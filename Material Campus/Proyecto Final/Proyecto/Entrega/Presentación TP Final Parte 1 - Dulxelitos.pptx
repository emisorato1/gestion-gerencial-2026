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diagnóstico de Dulxelitos, una fábrica de snacks de San Rafael. Aclarar de entrada que esta primera parte es solo diagnóstico: todavía no proponemos solución.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 años en el mismo rubro. Lo importante: no sólo fabrica, también fracciona producto de terceros y lo vende con su marca. Eso es una línea de negocio declarada, no un agregado.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números que sostienen todo el análisis. El 61% de la Patagonia es el que más sorprende: la fábrica está en Mendoza y Mendoza es apenas el 10%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exclusividad territorial: en casi todas las localidades figura uno o dos distribuidores, no varios compitiendo entre sí. Patagonia = Río Negro, Neuquén y Chubut.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Aiello es una cadena familiar puntana con 10 sucursales y política de comprarle a proveedores locales. Eso explica cómo una pyme mendocina llegó a su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 decirlo en voz alta: elegimos herramientas, no las aplicamos todas. El criterio fue aplicar una cuando producía evidencia sobre esta empresa en particular.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fortalezas y debilidades salen de mirar la cadena de valor; las oportunidades y amenazas, de los factores del entorno y de las cinco fuerzas. No lo cruzamos a propósito: el cruce deriva iniciativas y esta entrega es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fuerte no es el producto, es el alcance. Y ese alcance no se compra: se construyó en cinco décadas.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Acá está el nudo del diagnóstico: compite por precio y no sabe cuánto le cuesta producir. Todo lo demás se desprende de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oportunidad más barata es la tienda: no hay que construir nada, hay que decidir usarla.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amenaza del film es la más concreta: es el único insumo sin sustituto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bloque oscuro del centro es la clave: le vende rentabilidad al canal, no sabor al consumidor. Abajo a la izquierda, en rojo, está el problema de fondo.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de la cátedra trae seis dimensiones y el enunciado pide siete: agregamos Gobierno como séptima, y está justificado en el informe. Las respuestas salen del relevamiento con el integrante que trabaja adentro.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 de 1 a 5. Nivel 1 Inicial, 2 Básico, 3 Intermedio, 4 Avanzado, 5 Líder. El promedio simple de las 28 preguntas da 1.79.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acá. Los tres puntos salen de cruzar el FODA, el canvas y la madurez: las tres herramientas apuntan al mismo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costos de no actuar están confirmados por la empresa: ventas perdidas en temporada, horas hombre para rehacer la lista de precios, roturas en el viaje y horas extras sostenidas. Ninguno está cuantificado todavía, y eso también es parte del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731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GERENCIAL · UTN FRSR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373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spc="20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DULXELITOS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gerencial de una PyME de San Rafael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Final · Parte 1 · Modelo de negocio actual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Lepez Joaquín · Geyer Juan José · Lopez Juan · Sorato Emiliano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EMPRESA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hace, dónde y desde cuándo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00200"/>
            <a:ext cx="5257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Fabrica, fracciona y distribuye snacks.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familiar de San Rafael, Mendoza, fundada en 1973. Hoy trabaja la segunda generación: el dueño decide lo importante y los hijos llevan la operación del día.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Fábrica, depósito y oficina están en un mismo predio, en Av. Pedro Vargas 2400. Tiene habilitaciones RNE y RNPA, que es lo que le permite mover mercadería entre provincias y entrar a un supermercado.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309360" y="160020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6E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65392" y="1837944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SALADOS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65392" y="2240280"/>
            <a:ext cx="4745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Papas fritas, palitos de maíz y salados, conitos, cascarones, maní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1089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DCEAE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65392" y="3346704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DULCES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65392" y="3749040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inflado tipo tutuca, bolitas crocantes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443484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DDE8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5392" y="4672584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E5C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REPOSTERÍA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65392" y="5074920"/>
            <a:ext cx="4745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Almidón de maíz, granas, esencia de vainilla: compra a granel y envasa con su marca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5120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25 presentaciones, de 20 g a 2 Kg.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NÚMEROS QUE RELEVAMOS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pudimos verificar entre la página oficial, las redes y el relevamiento adentro de la empresa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49631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años fabricando snacks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40430" y="169164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3440430" y="249631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total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86500" y="169164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6286500" y="249631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 mayoristas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32570" y="169164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200" dirty="0"/>
          </a:p>
        </p:txBody>
      </p:sp>
      <p:sp>
        <p:nvSpPr>
          <p:cNvPr id="11" name="Text 9"/>
          <p:cNvSpPr txBox="1"/>
          <p:nvPr/>
        </p:nvSpPr>
        <p:spPr>
          <a:xfrm>
            <a:off x="9132570" y="249631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provincias de cobertura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33756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4223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red está en la Patagonia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40430" y="333756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200" dirty="0"/>
          </a:p>
        </p:txBody>
      </p:sp>
      <p:sp>
        <p:nvSpPr>
          <p:cNvPr id="15" name="Text 13"/>
          <p:cNvSpPr txBox="1"/>
          <p:nvPr/>
        </p:nvSpPr>
        <p:spPr>
          <a:xfrm>
            <a:off x="3440430" y="414223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producto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86500" y="333756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5200" dirty="0"/>
          </a:p>
        </p:txBody>
      </p:sp>
      <p:sp>
        <p:nvSpPr>
          <p:cNvPr id="17" name="Text 15"/>
          <p:cNvSpPr txBox="1"/>
          <p:nvPr/>
        </p:nvSpPr>
        <p:spPr>
          <a:xfrm>
            <a:off x="6286500" y="414223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 distintas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32570" y="3337560"/>
            <a:ext cx="24345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200" dirty="0"/>
          </a:p>
        </p:txBody>
      </p:sp>
      <p:sp>
        <p:nvSpPr>
          <p:cNvPr id="19" name="Text 17"/>
          <p:cNvSpPr txBox="1"/>
          <p:nvPr/>
        </p:nvSpPr>
        <p:spPr>
          <a:xfrm>
            <a:off x="9132570" y="4142232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cadena de supermercados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709160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F3D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0392" y="494690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DATO QUE FALTA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" y="5349240"/>
            <a:ext cx="10460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sabemos cuánto factura cada distribuidor. Lo preguntamos y el dato no existe: la empresa no mide la concentración de su propia cartera. Esa ausencia ya es un hallazgo.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ESTÁ LA RED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distribuidores, y la mayoría lejos de la fábrica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45920"/>
          <a:ext cx="7315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7F4E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7F4E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Distrib.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7F4E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Localidades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Río Negro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Gral. Roca, Cipolletti, Bariloche, El Bolsón, Villa Regina, Allen y otras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Neuquén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Capital, Plottier, Senillosa, Zapala, Chos Malal, Rincón de los Sauces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Luis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Luis, Villa Mercedes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Mendoza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Rafael, Gral. Alvear, Malargüe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Chubut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Comodoro Rivadavia, Esquel, Puerto Madryn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Buenos Aires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Bahía Blanca, Mar del Plata, Lincoln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Pampa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79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Rosa, 25 de Mayo, Gral. Pico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64592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1B2B3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31352" y="1883664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PATAGONIA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31352" y="2286000"/>
            <a:ext cx="2779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de 57 distribuidores, el 61% de la red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75320" y="3337560"/>
            <a:ext cx="3291840" cy="1645920"/>
          </a:xfrm>
          <a:prstGeom prst="roundRect">
            <a:avLst>
              <a:gd name="adj" fmla="val 4444"/>
            </a:avLst>
          </a:prstGeom>
          <a:solidFill>
            <a:srgbClr val="EFEA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31352" y="3575304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MENDOZA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31352" y="3977640"/>
            <a:ext cx="2779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está la fábrica: 6 distribuidores, apenas el 10%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94360" y="516636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6EB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" y="5404104"/>
            <a:ext cx="10460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decisión sobre logística, precio o servicio hay que pensarla con este mapa y no con el de San Rafael.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VENDE AL CANAL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al consumidor final: el dato que ordena todo el análisis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413760" cy="2880360"/>
          </a:xfrm>
          <a:prstGeom prst="roundRect">
            <a:avLst>
              <a:gd name="adj" fmla="val 3175"/>
            </a:avLst>
          </a:prstGeom>
          <a:solidFill>
            <a:srgbClr val="2235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5468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Distribuidores mayoristas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3192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en 7 provincias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3880" y="1828800"/>
            <a:ext cx="3413760" cy="2880360"/>
          </a:xfrm>
          <a:prstGeom prst="roundRect">
            <a:avLst>
              <a:gd name="adj" fmla="val 3175"/>
            </a:avLst>
          </a:prstGeom>
          <a:solidFill>
            <a:srgbClr val="2235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93920" y="205740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F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400" dirty="0"/>
          </a:p>
        </p:txBody>
      </p:sp>
      <p:sp>
        <p:nvSpPr>
          <p:cNvPr id="10" name="Text 8"/>
          <p:cNvSpPr txBox="1"/>
          <p:nvPr/>
        </p:nvSpPr>
        <p:spPr>
          <a:xfrm>
            <a:off x="4693920" y="315468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supermercados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93920" y="393192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Aiello, de San Luis, con trato directo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3400" y="1828800"/>
            <a:ext cx="3413760" cy="2880360"/>
          </a:xfrm>
          <a:prstGeom prst="roundRect">
            <a:avLst>
              <a:gd name="adj" fmla="val 3175"/>
            </a:avLst>
          </a:prstGeom>
          <a:solidFill>
            <a:srgbClr val="2235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73440" y="2057400"/>
            <a:ext cx="277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8F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400" dirty="0"/>
          </a:p>
        </p:txBody>
      </p:sp>
      <p:sp>
        <p:nvSpPr>
          <p:cNvPr id="14" name="Text 12"/>
          <p:cNvSpPr txBox="1"/>
          <p:nvPr/>
        </p:nvSpPr>
        <p:spPr>
          <a:xfrm>
            <a:off x="8473440" y="315468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minorista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3440" y="3931920"/>
            <a:ext cx="277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local y sin e-commerce operativo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983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segmento minorista: el modelo entero está construido sobre mayoristas y una sola cadena.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79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5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QUÉ LA MIRAMOS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463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herramientas de la materia, en este orden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9436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lo interno contra lo externo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7388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10" name="Shape 8"/>
          <p:cNvSpPr/>
          <p:nvPr/>
        </p:nvSpPr>
        <p:spPr>
          <a:xfrm>
            <a:off x="469392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39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9392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9392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cómo gana plata hoy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53400" y="2148840"/>
            <a:ext cx="3413760" cy="2331720"/>
          </a:xfrm>
          <a:prstGeom prst="roundRect">
            <a:avLst>
              <a:gd name="adj" fmla="val 3922"/>
            </a:avLst>
          </a:prstGeom>
          <a:solidFill>
            <a:srgbClr val="F7F4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3440" y="2377440"/>
            <a:ext cx="548640" cy="548640"/>
          </a:xfrm>
          <a:prstGeom prst="ellipse">
            <a:avLst/>
          </a:prstGeom>
          <a:solidFill>
            <a:srgbClr val="1B2B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734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310896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MADUREZ DIGITAL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8404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qué tan preparada está para cambiar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8006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dejamos afuera y por qué: PESTEL completo y FODA cruzado. El primero devolvía casilleros vacíos para una pyme regional de snacks; el segundo deriva iniciativas, y esta entrega es diagnóstico. Cadena de valor y cinco fuerzas las usamos como insumo del FODA, no como lámina aparte.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interno contra lo externo, en una mirada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DCEA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0392" y="1837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240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construidos en 53 años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propia más transporte tercerizado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generación trabajando en la empresa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está conforme: el único reclamo es rotura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0780" y="1600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F3D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6812" y="1837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6812" y="2240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conocen el costo real por producto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saturada, tapada con horas extras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miden casi nada de lo que hacen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sin integrar y sin CRM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886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DDE8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" y="4123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1E5C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" y="4526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online ya está hecha y apagada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 por fraccionamiento sin ampliar planta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como modelo de cadena repetible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tiene ganas de capacitarse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0780" y="3886200"/>
            <a:ext cx="5326380" cy="2148840"/>
          </a:xfrm>
          <a:prstGeom prst="roundRect">
            <a:avLst>
              <a:gd name="adj" fmla="val 3404"/>
            </a:avLst>
          </a:prstGeom>
          <a:solidFill>
            <a:srgbClr val="F6E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6812" y="4123944"/>
            <a:ext cx="4814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8A5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6812" y="4526280"/>
            <a:ext cx="48143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sobre un modelo que compite por precio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proveedor de film impreso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planta si sube la demanda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un cliente sin llegar a enterarse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 · FORTALEZAS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empresa tiene y le funciona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680313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de 57 distribuidores construida en 53 años: armar cobertura en 7 provincias lleva décadas y es la verdadera barrera de entrada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propia combinada con transporte tercerizado, que es lo que le permite llegar a la Patagonia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generación ya trabajando: la operación diaria no depende de una sola persona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está conforme. El único reclamo habitual son los paquetes que se rompen en el viaje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Habilitaciones RNE y RNPA vigentes, una barrera real frente a competidores informales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763256" y="1691640"/>
            <a:ext cx="3803904" cy="4297680"/>
          </a:xfrm>
          <a:prstGeom prst="roundRect">
            <a:avLst>
              <a:gd name="adj" fmla="val 1923"/>
            </a:avLst>
          </a:prstGeom>
          <a:solidFill>
            <a:srgbClr val="DCEAE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19288" y="19293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19288" y="2331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cadena de valor: qué actividades hace la empresa y cuáles le agregan valor de verdad.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 · DEBILIDADES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 juega en contra puertas adentro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680313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conocen el costo real por producto: la planilla existe pero la propia empresa reconoce que es imprecisa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está al límite de su capacidad y lo tapan con horas extras sostenidas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miden casi nada: ni cuánto pesa cada cliente, ni cuánto se pierde por rotura, ni cuántas horas extras se pagan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gestión y las planillas no se hablan entre sí, y no hay CRM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pedidos entran por canales que no se comunican: viajante, WhatsApp y teléfono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763256" y="1691640"/>
            <a:ext cx="3803904" cy="4297680"/>
          </a:xfrm>
          <a:prstGeom prst="roundRect">
            <a:avLst>
              <a:gd name="adj" fmla="val 1923"/>
            </a:avLst>
          </a:prstGeom>
          <a:solidFill>
            <a:srgbClr val="F3DF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19288" y="19293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19288" y="2331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cadena de valor y del relevamiento con el integrante que trabaja adentro de la empresa.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E5C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 · OPORTUNIDADES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disponible y no se está usando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680313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online ya está construida, con carrito y catálogo cargado, y sin operar: es capacidad que ya se pagó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de fraccionamiento permite crecer sin ampliar la planta, porque envasa producto comprado a terceros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funciona como modelo de cadena repetible en otras provincias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tiene ganas de capacitarse y la empresa aprovecha las oportunidades de producto nuevo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está subatendida: apenas 6 distribuidores en la provincia donde está la fábrica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763256" y="1691640"/>
            <a:ext cx="3803904" cy="4297680"/>
          </a:xfrm>
          <a:prstGeom prst="roundRect">
            <a:avLst>
              <a:gd name="adj" fmla="val 1923"/>
            </a:avLst>
          </a:prstGeom>
          <a:solidFill>
            <a:srgbClr val="DDE8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19288" y="19293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1E5C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19288" y="2331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factores clave del entorno y de las cinco fuerzas, sobre todo del poder de negociación del canal.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8A5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FODA · AMENAZAS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puede golpear desde afuera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91640"/>
            <a:ext cx="680313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de costos sobre un modelo cuya única ventaja declarada es el precio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proveedor de film impreso, con mínimos de compra y arte propio de la marca: cambiarlo encarece y demora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sube la demanda no hay margen de planta para responder, y ya pierden ventas en temporada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perder un distribuidor sin llegar a enterarse, porque no hay seguimiento de la cartera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 regionales e informales con estructura de costos más liviana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763256" y="1691640"/>
            <a:ext cx="3803904" cy="4297680"/>
          </a:xfrm>
          <a:prstGeom prst="roundRect">
            <a:avLst>
              <a:gd name="adj" fmla="val 1923"/>
            </a:avLst>
          </a:prstGeom>
          <a:solidFill>
            <a:srgbClr val="F6E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19288" y="19293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8A5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19288" y="2331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cinco fuerzas, sobre todo del poder de los proveedores, y de los factores clave del entorno.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 del modelo de negocio, los nueve bloques en una lámina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2128723" cy="3108960"/>
          </a:xfrm>
          <a:prstGeom prst="roundRect">
            <a:avLst>
              <a:gd name="adj" fmla="val 2577"/>
            </a:avLst>
          </a:prstGeom>
          <a:solidFill>
            <a:srgbClr val="EFEAD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627632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SOCIOS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187269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proveedor de film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 a granel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terminado a granel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57 distribuidores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Transportistas tercerizados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Supermercados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805379" y="1536192"/>
            <a:ext cx="2128723" cy="1513332"/>
          </a:xfrm>
          <a:prstGeom prst="roundRect">
            <a:avLst>
              <a:gd name="adj" fmla="val 3625"/>
            </a:avLst>
          </a:prstGeom>
          <a:solidFill>
            <a:srgbClr val="EFEAD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33395" y="1627632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ACTIVIDADES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933395" y="1901952"/>
            <a:ext cx="1872691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Fraccionamiento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cobranza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05379" y="3131820"/>
            <a:ext cx="2128723" cy="1513332"/>
          </a:xfrm>
          <a:prstGeom prst="roundRect">
            <a:avLst>
              <a:gd name="adj" fmla="val 3625"/>
            </a:avLst>
          </a:prstGeom>
          <a:solidFill>
            <a:srgbClr val="EFEA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33395" y="3223260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RECURSOS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33395" y="3497580"/>
            <a:ext cx="1872691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57 clientes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al límite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de la familia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RNE y RNPA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16398" y="1536192"/>
            <a:ext cx="2128723" cy="3108960"/>
          </a:xfrm>
          <a:prstGeom prst="roundRect">
            <a:avLst>
              <a:gd name="adj" fmla="val 2577"/>
            </a:avLst>
          </a:prstGeom>
          <a:solidFill>
            <a:srgbClr val="1B2B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44414" y="1627632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PROPUESTA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44414" y="1901952"/>
            <a:ext cx="187269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 para el que revende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competitivo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a 7 provincias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amplio en un proveedor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1 y 2 Kg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27418" y="1536192"/>
            <a:ext cx="2128723" cy="1513332"/>
          </a:xfrm>
          <a:prstGeom prst="roundRect">
            <a:avLst>
              <a:gd name="adj" fmla="val 3625"/>
            </a:avLst>
          </a:prstGeom>
          <a:solidFill>
            <a:srgbClr val="EFEA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55434" y="1627632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RELACIÓN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55434" y="1901952"/>
            <a:ext cx="1872691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lleva la empresa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por zona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acotado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27418" y="3131820"/>
            <a:ext cx="2128723" cy="1513332"/>
          </a:xfrm>
          <a:prstGeom prst="roundRect">
            <a:avLst>
              <a:gd name="adj" fmla="val 3625"/>
            </a:avLst>
          </a:prstGeom>
          <a:solidFill>
            <a:srgbClr val="EFEAD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55434" y="3223260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CANALES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55434" y="3497580"/>
            <a:ext cx="1872691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propia y fletes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Viajante con zona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y teléfono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apagada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438437" y="1536192"/>
            <a:ext cx="2128723" cy="3108960"/>
          </a:xfrm>
          <a:prstGeom prst="roundRect">
            <a:avLst>
              <a:gd name="adj" fmla="val 2577"/>
            </a:avLst>
          </a:prstGeom>
          <a:solidFill>
            <a:srgbClr val="EFEAD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566453" y="1627632"/>
            <a:ext cx="18726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556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SEGMENTOS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566453" y="1901952"/>
            <a:ext cx="187269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en Patagonia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Aiello, San Luis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consumidor final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4727448"/>
            <a:ext cx="6550762" cy="1234440"/>
          </a:xfrm>
          <a:prstGeom prst="roundRect">
            <a:avLst>
              <a:gd name="adj" fmla="val 4444"/>
            </a:avLst>
          </a:prstGeom>
          <a:solidFill>
            <a:srgbClr val="F3DFD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2376" y="4818888"/>
            <a:ext cx="62947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ESTRUCTURA DE COSTOS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" y="5093208"/>
            <a:ext cx="62947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 · packaging · mano de obra · flete · energía · costo financiero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costo está asignado por producto: fijan precio sobre una base que saben equivocada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27418" y="4727448"/>
            <a:ext cx="4339742" cy="1234440"/>
          </a:xfrm>
          <a:prstGeom prst="roundRect">
            <a:avLst>
              <a:gd name="adj" fmla="val 4444"/>
            </a:avLst>
          </a:prstGeom>
          <a:solidFill>
            <a:srgbClr val="DCEA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55434" y="4818888"/>
            <a:ext cx="4083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FUENTES DE INGRESO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55434" y="5093208"/>
            <a:ext cx="4083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mayorista · Aiello · producto fraccionado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Contado, cuenta corriente a 30 días y cheques diferidos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DE CLIENTES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quién creamos valor?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1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mayoristas activos en 7 provincias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de esos 57 están en la Patagonia: el 61% de la red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Mendoza, donde está la fábrica, tiene apenas 6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Supermercados, de San Luis: la única cadena, con trato directo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al consumidor final: no hay segmento minorista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sabe cuánto factura cada distribuidor: el dato no existe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es de canal, de punta a punta. Y con 57 clientes, la empresa no mide si el volumen está repartido o si unos pocos concentran todo.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VALOR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resolvemos?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2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 para el distribuidor, y la empresa lo dice así en su propia página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logística como diferencial: alcance que el canal no consigue solo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competitivo por control de costos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amplio en un solo proveedor, así el mayorista no fragmenta sus compras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1 y 2 Kg para que el comercio chico fraccione y saque margen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Fraccionamiento: envasa y marca producto de terceros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 vende sabor al consumidor: le vende rentabilidad al canal. Es una estrategia de liderazgo en costos, no de diferenciación.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llegamos a ellos?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3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propia de reparto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tercerizado, que es lo que hace posible la Patagonia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en fábrica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viajante con zona asignada: entrega, no preventa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y teléfono, por donde entran los pedidos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y Facebook: marca y contacto, no venta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online construida y sin operar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tiene carrito, checkout y el catálogo cargado. Lo que falta no es la obra, es la decisión de encenderla: capacidad que ya se pagó y está apagada.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 CON CLIENTES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los fidelizamos?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4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vínculo lo sostiene la empresa, no el viajante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acordada con cada distribuidor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de lunes a viernes en horario acotado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ningún canal de autogestión fuera de esa franja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CRM y sin política de fidelización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se queda por costumbre, precio y trato directo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relación no se vaya con el vendedor es bueno, pero pone 57 vínculos sobre una estructura chica. Y en la lista pública de distribuidores hay registros duplicados.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2F6B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INGRESO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pagan nuestros clientes?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2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5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mayorista a distribuidores: la fuente principal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directa a la cadena Aiello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de producto fraccionado: repostería y formatos de 1 y 2 Kg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con poca ganancia por unidad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Contado, cuenta corriente a 30 días y cheques diferidos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pareja todo el año, sin estacionalidad marcada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cadena nacional no hay plazos de 90 días: hoy la empresa no está expuesta al estrangulamiento financiero del retail concentrado.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CLAVE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activos necesitamos?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6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 57 distribuidores: el activo más valioso y el menos reconocido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de producción, hoy al límite de su capacidad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conocimiento de la familia: recetas, costos y contactos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marca, con 53 años y presencia en góndola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propia y la capacidad logística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planilla de costos, de la que depende el precio de todo el catálogo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habilitaciones RNE y RNPA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segunda generación operando, así que la continuidad diaria está cubierta. Lo que sigue concentrado en una sola cabeza es el criterio estratégico.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ACTIVIDADES CLAVE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para entregar valor?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7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Producción: extrusión, freído y saborizado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Fraccionamiento y envasado, incluida la línea de repostería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de materia prima y de packaging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y logística, con flota propia y fletes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y presencia en el territorio con el viajante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centralizado de la relación con los 57 distribuidores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Administración, facturación y cobranza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administración se reparte entre planillas y un sistema de gestión que no se hablan entre sí. Es el mismo problema que aparece en el costeo.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SOCIOS CLAVE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¿Quiénes son nuestros aliados?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87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8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 de packaging y film impreso: uno solo, con mínimos de compra y arte propio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de materia prima a granel: críticos pero sustituibles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de producto terminado a granel, que abastecen el fraccionamiento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57 distribuidores: socios y clientes a la vez, ponen el capital de trabajo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Transportistas tercerizados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Aiello Supermercados, un socio de tamaño parecido y no un retailer que imponga condiciones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dependencia del film es la única que no tiene salida rápida: cambiar de proveedor encarece y demora, porque el arte es específico de la marca.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84048"/>
            <a:ext cx="749808" cy="749808"/>
          </a:xfrm>
          <a:prstGeom prst="ellipse">
            <a:avLst/>
          </a:prstGeom>
          <a:solidFill>
            <a:srgbClr val="A33B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38404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84048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COSTOS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859536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¿Cuáles son los principales costos?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A33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· bloque 9 de 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prima: el componente más pesado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y film, agravado por más de 25 presentaciones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 de obra: entre 15 y 20 personas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525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y flete: mucho volumen y poco peso, con la red lejos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 y mantenimiento de una línea saturada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financiero de la cuenta corriente y los cheques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94360" y="4389120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EAD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" y="4626864"/>
            <a:ext cx="10460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5029200"/>
            <a:ext cx="10460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componente está asignado por producto. Fijan precio sobre una base que la propia empresa sabe equivocada, en un modelo cuya única ventaja declarada es el precio.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MADUREZ DIGITAL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la cátedra, 28 preguntas sobre 7 dimensiones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37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1.79</a:t>
            </a:r>
            <a:endParaRPr lang="en-US" sz="10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Inicial, sobre 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puntos sobre 28 preguntas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737360"/>
            <a:ext cx="5852160" cy="1554480"/>
          </a:xfrm>
          <a:prstGeom prst="roundRect">
            <a:avLst>
              <a:gd name="adj" fmla="val 4706"/>
            </a:avLst>
          </a:prstGeom>
          <a:solidFill>
            <a:srgbClr val="DCEA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71032" y="1975104"/>
            <a:ext cx="5340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SÍ ESTÁ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2377440"/>
            <a:ext cx="5340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 sistema de gestión, hay habilitaciones, hay planilla de costos y hay una tienda construida. Las herramientas existen.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715000" y="3429000"/>
            <a:ext cx="5852160" cy="1600200"/>
          </a:xfrm>
          <a:prstGeom prst="roundRect">
            <a:avLst>
              <a:gd name="adj" fmla="val 4571"/>
            </a:avLst>
          </a:prstGeom>
          <a:solidFill>
            <a:srgbClr val="F3D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71032" y="3666744"/>
            <a:ext cx="5340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FALTA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71032" y="4069080"/>
            <a:ext cx="5340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eso está integrado ni se mide. Las dos dimensiones más bajas, Estrategia y Gobierno, no son sobre herramientas: son sobre decidir y controlar.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51663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EFEAD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0392" y="5404104"/>
            <a:ext cx="104607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Inicial no quiere decir que la empresa esté mal gestionada. Quiere decir que decide sin instrumentos: sin datos propios, sin indicadores y sin nadie que tenga el cambio como responsabilidad.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MADUREZ DIGITAL POR DIMENSIÓN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dimensiones llegan a Básico; el piso está en Estrategia y Gobierno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97834" y="1645920"/>
            <a:ext cx="0" cy="342900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14954" y="5093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61027" y="1645920"/>
            <a:ext cx="0" cy="342900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78147" y="5093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24221" y="1645920"/>
            <a:ext cx="0" cy="342900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41341" y="5093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87414" y="1645920"/>
            <a:ext cx="0" cy="342900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04534" y="5093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50608" y="1645920"/>
            <a:ext cx="0" cy="3429000"/>
          </a:xfrm>
          <a:prstGeom prst="line">
            <a:avLst/>
          </a:prstGeom>
          <a:noFill/>
          <a:ln w="12700">
            <a:solidFill>
              <a:srgbClr val="E2DC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67728" y="5093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645920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Operaciones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34640" y="1771977"/>
            <a:ext cx="2157984" cy="237744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84064" y="1645920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135777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y Datos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34640" y="2261834"/>
            <a:ext cx="1942186" cy="237744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8266" y="2135777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2625634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y Canales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34640" y="2751691"/>
            <a:ext cx="1726387" cy="237744"/>
          </a:xfrm>
          <a:prstGeom prst="rect">
            <a:avLst/>
          </a:prstGeom>
          <a:solidFill>
            <a:srgbClr val="2F6B5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52467" y="2625634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115491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Liderazgo y Cultura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34640" y="3241548"/>
            <a:ext cx="1294790" cy="237744"/>
          </a:xfrm>
          <a:prstGeom prst="rect">
            <a:avLst/>
          </a:prstGeom>
          <a:solidFill>
            <a:srgbClr val="C8791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20870" y="3115491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605349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y Habilidades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34640" y="3731405"/>
            <a:ext cx="1294790" cy="237744"/>
          </a:xfrm>
          <a:prstGeom prst="rect">
            <a:avLst/>
          </a:prstGeom>
          <a:solidFill>
            <a:srgbClr val="C8791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20870" y="3605349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095206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34640" y="4221262"/>
            <a:ext cx="1294790" cy="237744"/>
          </a:xfrm>
          <a:prstGeom prst="rect">
            <a:avLst/>
          </a:prstGeom>
          <a:solidFill>
            <a:srgbClr val="A33B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20870" y="4095206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585063"/>
            <a:ext cx="2130552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834640" y="4711119"/>
            <a:ext cx="1078992" cy="237744"/>
          </a:xfrm>
          <a:prstGeom prst="rect">
            <a:avLst/>
          </a:prstGeom>
          <a:solidFill>
            <a:srgbClr val="A33B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005072" y="4585063"/>
            <a:ext cx="594360" cy="489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202168" y="1600200"/>
            <a:ext cx="3364992" cy="1691640"/>
          </a:xfrm>
          <a:prstGeom prst="roundRect">
            <a:avLst>
              <a:gd name="adj" fmla="val 4324"/>
            </a:avLst>
          </a:prstGeom>
          <a:solidFill>
            <a:srgbClr val="D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58200" y="183794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BÁSICO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240280"/>
            <a:ext cx="2852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Procesos, Tecnología y Clientes. Hay herramientas, pero sueltas.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202168" y="3429000"/>
            <a:ext cx="3364992" cy="1828800"/>
          </a:xfrm>
          <a:prstGeom prst="roundRect">
            <a:avLst>
              <a:gd name="adj" fmla="val 4000"/>
            </a:avLst>
          </a:prstGeom>
          <a:solidFill>
            <a:srgbClr val="F3DFD9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58200" y="366674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INICIAL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4069080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Liderazgo, Personas, Gobierno y Estrategia. Acá está el piso, y no se arregla comprando software.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594360" y="5349240"/>
            <a:ext cx="10972800" cy="822960"/>
          </a:xfrm>
          <a:prstGeom prst="roundRect">
            <a:avLst>
              <a:gd name="adj" fmla="val 8889"/>
            </a:avLst>
          </a:prstGeom>
          <a:solidFill>
            <a:srgbClr val="EFEAD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50392" y="5586984"/>
            <a:ext cx="10460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más bajas no son sobre herramientas: son sobre decidir y controlar.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20" kern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CONCLUSIONES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78992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está mal gestionada.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C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sin instrumentos.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Compite por precio sin conocer su costo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ventaja que declara es el precio, y la planilla que lo sostiene la propia empresa la reconoce imprecisa.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864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10" name="Shape 8"/>
          <p:cNvSpPr/>
          <p:nvPr/>
        </p:nvSpPr>
        <p:spPr>
          <a:xfrm>
            <a:off x="465124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124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5124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Tapa la planta saturada con horas extras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5124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capacidad está al límite y se cubre pagando horas, no resolviendo el cuello de botella.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2920" y="2331720"/>
            <a:ext cx="3444240" cy="2743200"/>
          </a:xfrm>
          <a:prstGeom prst="roundRect">
            <a:avLst>
              <a:gd name="adj" fmla="val 3333"/>
            </a:avLst>
          </a:prstGeom>
          <a:solidFill>
            <a:srgbClr val="22353F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5528" y="2578608"/>
            <a:ext cx="548640" cy="548640"/>
          </a:xfrm>
          <a:prstGeom prst="ellipse">
            <a:avLst/>
          </a:prstGeom>
          <a:solidFill>
            <a:srgbClr val="C8791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5528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5528" y="3273552"/>
            <a:ext cx="2859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activo más valioso no tiene sistema detrás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5528" y="4041648"/>
            <a:ext cx="28590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distribuidores construidos en 53 años, sin CRM, sin medición de cartera y con la lista pública duplicada.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está en el canal. El canal está conforme. Está puertas adentro.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12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SIGUE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0424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entrega es diagnóstico: el modelo actual, sin proponer solución todavía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EFEAD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0392" y="20665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HICIMOS EN ESTA PARTE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468880"/>
            <a:ext cx="47914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Relevamos la organización y su contexto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Aplicamos FODA, Business Model Canvas y el modelo de madurez digital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Identificamos los costos que la empresa ya está pagando por no actuar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6EB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19672" y="20665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A3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VIENE EN LA PARTE 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468880"/>
            <a:ext cx="47914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el problema gerencial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Ponerle número a los cuatro costos de no actuar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Recién ahí, proponer la solución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663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Lepez Joaquín · Geyer Juan José · Lopez Juan · Sorato Emiliano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Dulxelitos · Gestión Gerencial · UTN FRSR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Dulxelitos - Diagnostico gerencial</dc:title>
  <dc:subject>PptxGenJS Presentation</dc:subject>
  <dc:creator>Lepez Joaquin, Geyer Juan Jose, Lopez Juan, Sorato Emiliano</dc:creator>
  <cp:lastModifiedBy>Lepez Joaquin, Geyer Juan Jose, Lopez Juan, Sorato Emiliano</cp:lastModifiedBy>
  <cp:revision>1</cp:revision>
  <dcterms:created xsi:type="dcterms:W3CDTF">2026-09-21T20:01:56Z</dcterms:created>
  <dcterms:modified xsi:type="dcterms:W3CDTF">2026-09-21T20:01:56Z</dcterms:modified>
</cp:coreProperties>
</file>