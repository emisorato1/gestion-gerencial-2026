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Presentamos el diagnóstico de Dulxelitos, una fábrica de snacks de San Rafael. Aclarar de entrada que esta primera parte es solo diagnóstico: todavía no proponemos solución.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Empresa familiar, 53 años en el mismo rubro. Fábrica, depósito y oficina están los tres en Av. Pedro Vargas 2400.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 hay segmento minorista: el modelo entero está construido sobre mayoristas y una sola cadena. Y la red está lejos de la fábrica, así que logística, precio y servicio hay que pensarlos con el mapa de la Patagonia, no con el de San Rafael.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Importante decirlo en voz alta: elegimos herramientas, no las aplicamos todas. El criterio fue aplicar una cuando producía evidencia sobre esta empresa en particular.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Las fortalezas y debilidades salen de mirar la cadena de valor; las oportunidades y amenazas, de los factores del entorno y de las cinco fuerzas. No lo cruzamos a propósito: el cruce deriva iniciativas y esta entrega es diagnóstico.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 canvas completo, igual que el póster que entregamos. El bloque oscuro del centro es la clave: le vende rentabilidad al canal. Abajo a la izquierda, en rojo, está el problema de fondo.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Los tres salen directamente del canvas: el bloque de propuesta de valor, el de recursos clave y el de estructura de costos.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Tres dimensiones llegan a Básico: Procesos, Tecnología y Clientes. El piso está en Estrategia y Gobierno. Agregamos Gobierno como séptima dimensión porque el enunciado pide siete y el modelo trae seis. Nivel Inicial no quiere decir mal gestionada: quiere decir que decide sin instrumentos.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Cerrar acá. Los tres puntos salen de cruzar el FODA, el canvas y la madurez: las tres herramientas apuntan al mismo lado. Con esto queda armado el terreno para el problema gerencial priorizado, que es la parte 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B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73152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C879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GESTIÓN GERENCIAL · UTN FRSR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1737360"/>
            <a:ext cx="109728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0" b="1" spc="200" kern="0" dirty="0">
                <a:solidFill>
                  <a:srgbClr val="F7F4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DULXELITOS</a:t>
            </a:r>
            <a:endParaRPr lang="en-US" sz="8800" dirty="0"/>
          </a:p>
        </p:txBody>
      </p:sp>
      <p:sp>
        <p:nvSpPr>
          <p:cNvPr id="4" name="Text 2"/>
          <p:cNvSpPr txBox="1"/>
          <p:nvPr/>
        </p:nvSpPr>
        <p:spPr>
          <a:xfrm>
            <a:off x="594360" y="32004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C3D0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Diagnóstico gerencial de una PyME de San Rafael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594360" y="370332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8FA3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Trabajo Práctico Final · Parte 1 · Modelo de negocio actual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594360" y="576072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FA3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Lepez Joaquín · Geyer Juan José · Lopez Juan · Sorato Emiliano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57200"/>
            <a:ext cx="10972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spc="120" kern="0" dirty="0">
                <a:solidFill>
                  <a:srgbClr val="1B2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EMPRESA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1042416"/>
            <a:ext cx="10972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56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Fabricación, fraccionamiento y distribución de snacks · San Rafael, Mendoza · desde 1973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594360" y="1645920"/>
            <a:ext cx="335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4600" b="1" dirty="0">
                <a:solidFill>
                  <a:srgbClr val="C879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1973</a:t>
            </a:r>
            <a:endParaRPr lang="en-US" sz="4600" dirty="0"/>
          </a:p>
        </p:txBody>
      </p:sp>
      <p:sp>
        <p:nvSpPr>
          <p:cNvPr id="5" name="Text 3"/>
          <p:cNvSpPr txBox="1"/>
          <p:nvPr/>
        </p:nvSpPr>
        <p:spPr>
          <a:xfrm>
            <a:off x="594360" y="2404872"/>
            <a:ext cx="3352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56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53 años fabricando snacks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4404360" y="1645920"/>
            <a:ext cx="335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4600" b="1" dirty="0">
                <a:solidFill>
                  <a:srgbClr val="C879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15-20</a:t>
            </a:r>
            <a:endParaRPr lang="en-US" sz="4600" dirty="0"/>
          </a:p>
        </p:txBody>
      </p:sp>
      <p:sp>
        <p:nvSpPr>
          <p:cNvPr id="7" name="Text 5"/>
          <p:cNvSpPr txBox="1"/>
          <p:nvPr/>
        </p:nvSpPr>
        <p:spPr>
          <a:xfrm>
            <a:off x="4404360" y="2404872"/>
            <a:ext cx="3352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56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personas, empresa familiar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8214360" y="1645920"/>
            <a:ext cx="335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4600" b="1" dirty="0">
                <a:solidFill>
                  <a:srgbClr val="C879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4600" dirty="0"/>
          </a:p>
        </p:txBody>
      </p:sp>
      <p:sp>
        <p:nvSpPr>
          <p:cNvPr id="9" name="Text 7"/>
          <p:cNvSpPr txBox="1"/>
          <p:nvPr/>
        </p:nvSpPr>
        <p:spPr>
          <a:xfrm>
            <a:off x="8214360" y="2404872"/>
            <a:ext cx="3352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56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predio: fábrica, depósito y oficina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594360" y="3200400"/>
            <a:ext cx="335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4600" b="1" dirty="0">
                <a:solidFill>
                  <a:srgbClr val="1B2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4600" dirty="0"/>
          </a:p>
        </p:txBody>
      </p:sp>
      <p:sp>
        <p:nvSpPr>
          <p:cNvPr id="11" name="Text 9"/>
          <p:cNvSpPr txBox="1"/>
          <p:nvPr/>
        </p:nvSpPr>
        <p:spPr>
          <a:xfrm>
            <a:off x="594360" y="3959352"/>
            <a:ext cx="3352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56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líneas: salados, dulces, repostería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4404360" y="3200400"/>
            <a:ext cx="335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4600" b="1" dirty="0">
                <a:solidFill>
                  <a:srgbClr val="1B2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+25</a:t>
            </a:r>
            <a:endParaRPr lang="en-US" sz="4600" dirty="0"/>
          </a:p>
        </p:txBody>
      </p:sp>
      <p:sp>
        <p:nvSpPr>
          <p:cNvPr id="13" name="Text 11"/>
          <p:cNvSpPr txBox="1"/>
          <p:nvPr/>
        </p:nvSpPr>
        <p:spPr>
          <a:xfrm>
            <a:off x="4404360" y="3959352"/>
            <a:ext cx="3352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56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presentaciones, de 20 g a 2 Kg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8214360" y="3200400"/>
            <a:ext cx="335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4600" b="1" dirty="0">
                <a:solidFill>
                  <a:srgbClr val="1B2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RNE</a:t>
            </a:r>
            <a:endParaRPr lang="en-US" sz="4600" dirty="0"/>
          </a:p>
        </p:txBody>
      </p:sp>
      <p:sp>
        <p:nvSpPr>
          <p:cNvPr id="15" name="Text 13"/>
          <p:cNvSpPr txBox="1"/>
          <p:nvPr/>
        </p:nvSpPr>
        <p:spPr>
          <a:xfrm>
            <a:off x="8214360" y="3959352"/>
            <a:ext cx="3352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56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 RNPA: barrera frente a informales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594360" y="4754880"/>
            <a:ext cx="10972800" cy="1234440"/>
          </a:xfrm>
          <a:prstGeom prst="roundRect">
            <a:avLst>
              <a:gd name="adj" fmla="val 5926"/>
            </a:avLst>
          </a:prstGeom>
          <a:solidFill>
            <a:srgbClr val="EFEADC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850392" y="4992624"/>
            <a:ext cx="10460736" cy="8138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B2B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Fabrica sus líneas propias y además fracciona y envasa producto de terceros con su marca. Ese fraccionamiento es una línea de negocio declarada, no un agregado: le permite ofrecer un portafolio amplio sin agrandar la planta.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594360" y="626364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FA3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Dulxelitos · Gestión Gerencial · UTN FRSR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B2B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57200"/>
            <a:ext cx="10972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spc="120" kern="0" dirty="0">
                <a:solidFill>
                  <a:srgbClr val="F7F4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 VENDE AL CANAL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1042416"/>
            <a:ext cx="10972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C3D0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Nunca al consumidor final: el dato que ordena todo el análisis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94360" y="1737360"/>
            <a:ext cx="3413760" cy="2834640"/>
          </a:xfrm>
          <a:prstGeom prst="roundRect">
            <a:avLst>
              <a:gd name="adj" fmla="val 3226"/>
            </a:avLst>
          </a:prstGeom>
          <a:solidFill>
            <a:srgbClr val="22353F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14400" y="1965960"/>
            <a:ext cx="27736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C879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57</a:t>
            </a:r>
            <a:endParaRPr lang="en-US" sz="6000" dirty="0"/>
          </a:p>
        </p:txBody>
      </p:sp>
      <p:sp>
        <p:nvSpPr>
          <p:cNvPr id="6" name="Text 4"/>
          <p:cNvSpPr txBox="1"/>
          <p:nvPr/>
        </p:nvSpPr>
        <p:spPr>
          <a:xfrm>
            <a:off x="914400" y="3063240"/>
            <a:ext cx="2773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F7F4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Distribuidores mayoristas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914400" y="3822192"/>
            <a:ext cx="2773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C3D0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Exclusividad territorial en 7 provincias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373880" y="1737360"/>
            <a:ext cx="3413760" cy="2834640"/>
          </a:xfrm>
          <a:prstGeom prst="roundRect">
            <a:avLst>
              <a:gd name="adj" fmla="val 3226"/>
            </a:avLst>
          </a:prstGeom>
          <a:solidFill>
            <a:srgbClr val="22353F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4693920" y="1965960"/>
            <a:ext cx="27736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7FB8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6000" dirty="0"/>
          </a:p>
        </p:txBody>
      </p:sp>
      <p:sp>
        <p:nvSpPr>
          <p:cNvPr id="10" name="Text 8"/>
          <p:cNvSpPr txBox="1"/>
          <p:nvPr/>
        </p:nvSpPr>
        <p:spPr>
          <a:xfrm>
            <a:off x="4693920" y="3063240"/>
            <a:ext cx="2773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F7F4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Cadena de supermercados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4693920" y="3822192"/>
            <a:ext cx="2773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C3D0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Aiello, de San Luis, con trato directo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8153400" y="1737360"/>
            <a:ext cx="3413760" cy="2834640"/>
          </a:xfrm>
          <a:prstGeom prst="roundRect">
            <a:avLst>
              <a:gd name="adj" fmla="val 3226"/>
            </a:avLst>
          </a:prstGeom>
          <a:solidFill>
            <a:srgbClr val="22353F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8473440" y="1965960"/>
            <a:ext cx="27736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8FA3A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6000" dirty="0"/>
          </a:p>
        </p:txBody>
      </p:sp>
      <p:sp>
        <p:nvSpPr>
          <p:cNvPr id="14" name="Text 12"/>
          <p:cNvSpPr txBox="1"/>
          <p:nvPr/>
        </p:nvSpPr>
        <p:spPr>
          <a:xfrm>
            <a:off x="8473440" y="3063240"/>
            <a:ext cx="2773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F7F4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Venta minorista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8473440" y="3822192"/>
            <a:ext cx="2773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C3D0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local y sin tienda online operativa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594360" y="489204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C879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Patagonia concentra el 61% de la red</a:t>
            </a:r>
            <a:pPr indent="0" marL="0">
              <a:buNone/>
            </a:pPr>
            <a:r>
              <a:rPr lang="en-US" sz="1900" dirty="0">
                <a:solidFill>
                  <a:srgbClr val="F7F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35 de 57. Mendoza, la provincia de origen, apenas el 10%.</a:t>
            </a:r>
            <a:endParaRPr lang="en-US" sz="1900" dirty="0"/>
          </a:p>
        </p:txBody>
      </p:sp>
      <p:sp>
        <p:nvSpPr>
          <p:cNvPr id="17" name="Text 15"/>
          <p:cNvSpPr txBox="1"/>
          <p:nvPr/>
        </p:nvSpPr>
        <p:spPr>
          <a:xfrm>
            <a:off x="594360" y="626364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FA3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Dulxelitos · Gestión Gerencial · UTN FRSR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C879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6400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spc="150" kern="0" dirty="0">
                <a:solidFill>
                  <a:srgbClr val="1B2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 QUÉ LA MIRAMOS</a:t>
            </a:r>
            <a:endParaRPr lang="en-US" sz="460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1463040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B2B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Tres herramientas de la materia, en este orden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594360" y="2148840"/>
            <a:ext cx="3413760" cy="2331720"/>
          </a:xfrm>
          <a:prstGeom prst="roundRect">
            <a:avLst>
              <a:gd name="adj" fmla="val 3922"/>
            </a:avLst>
          </a:prstGeom>
          <a:solidFill>
            <a:srgbClr val="F7F4EC"/>
          </a:solidFill>
          <a:ln/>
        </p:spPr>
      </p:sp>
      <p:sp>
        <p:nvSpPr>
          <p:cNvPr id="5" name="Shape 3"/>
          <p:cNvSpPr/>
          <p:nvPr/>
        </p:nvSpPr>
        <p:spPr>
          <a:xfrm>
            <a:off x="914400" y="2377440"/>
            <a:ext cx="548640" cy="548640"/>
          </a:xfrm>
          <a:prstGeom prst="ellipse">
            <a:avLst/>
          </a:prstGeom>
          <a:solidFill>
            <a:srgbClr val="1B2B34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914400" y="23774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914400" y="3108960"/>
            <a:ext cx="2773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1B2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FODA</a:t>
            </a:r>
            <a:endParaRPr lang="en-US" sz="2100" dirty="0"/>
          </a:p>
        </p:txBody>
      </p:sp>
      <p:sp>
        <p:nvSpPr>
          <p:cNvPr id="8" name="Text 6"/>
          <p:cNvSpPr txBox="1"/>
          <p:nvPr/>
        </p:nvSpPr>
        <p:spPr>
          <a:xfrm>
            <a:off x="914400" y="3840480"/>
            <a:ext cx="2773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56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Ordena lo interno contra lo externo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373880" y="2148840"/>
            <a:ext cx="3413760" cy="2331720"/>
          </a:xfrm>
          <a:prstGeom prst="roundRect">
            <a:avLst>
              <a:gd name="adj" fmla="val 3922"/>
            </a:avLst>
          </a:prstGeom>
          <a:solidFill>
            <a:srgbClr val="F7F4EC"/>
          </a:solidFill>
          <a:ln/>
        </p:spPr>
      </p:sp>
      <p:sp>
        <p:nvSpPr>
          <p:cNvPr id="10" name="Shape 8"/>
          <p:cNvSpPr/>
          <p:nvPr/>
        </p:nvSpPr>
        <p:spPr>
          <a:xfrm>
            <a:off x="4693920" y="2377440"/>
            <a:ext cx="548640" cy="548640"/>
          </a:xfrm>
          <a:prstGeom prst="ellipse">
            <a:avLst/>
          </a:prstGeom>
          <a:solidFill>
            <a:srgbClr val="1B2B34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693920" y="23774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4693920" y="3108960"/>
            <a:ext cx="2773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1B2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BUSINESS MODEL CANVAS</a:t>
            </a:r>
            <a:endParaRPr lang="en-US" sz="2100" dirty="0"/>
          </a:p>
        </p:txBody>
      </p:sp>
      <p:sp>
        <p:nvSpPr>
          <p:cNvPr id="13" name="Text 11"/>
          <p:cNvSpPr txBox="1"/>
          <p:nvPr/>
        </p:nvSpPr>
        <p:spPr>
          <a:xfrm>
            <a:off x="4693920" y="3840480"/>
            <a:ext cx="2773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56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Muestra cómo gana plata hoy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8153400" y="2148840"/>
            <a:ext cx="3413760" cy="2331720"/>
          </a:xfrm>
          <a:prstGeom prst="roundRect">
            <a:avLst>
              <a:gd name="adj" fmla="val 3922"/>
            </a:avLst>
          </a:prstGeom>
          <a:solidFill>
            <a:srgbClr val="F7F4EC"/>
          </a:solidFill>
          <a:ln/>
        </p:spPr>
      </p:sp>
      <p:sp>
        <p:nvSpPr>
          <p:cNvPr id="15" name="Shape 13"/>
          <p:cNvSpPr/>
          <p:nvPr/>
        </p:nvSpPr>
        <p:spPr>
          <a:xfrm>
            <a:off x="8473440" y="2377440"/>
            <a:ext cx="548640" cy="548640"/>
          </a:xfrm>
          <a:prstGeom prst="ellipse">
            <a:avLst/>
          </a:prstGeom>
          <a:solidFill>
            <a:srgbClr val="1B2B34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8473440" y="23774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2200" dirty="0"/>
          </a:p>
        </p:txBody>
      </p:sp>
      <p:sp>
        <p:nvSpPr>
          <p:cNvPr id="17" name="Text 15"/>
          <p:cNvSpPr txBox="1"/>
          <p:nvPr/>
        </p:nvSpPr>
        <p:spPr>
          <a:xfrm>
            <a:off x="8473440" y="3108960"/>
            <a:ext cx="2773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1B2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MADUREZ DIGITAL</a:t>
            </a:r>
            <a:endParaRPr lang="en-US" sz="2100" dirty="0"/>
          </a:p>
        </p:txBody>
      </p:sp>
      <p:sp>
        <p:nvSpPr>
          <p:cNvPr id="18" name="Text 16"/>
          <p:cNvSpPr txBox="1"/>
          <p:nvPr/>
        </p:nvSpPr>
        <p:spPr>
          <a:xfrm>
            <a:off x="8473440" y="3840480"/>
            <a:ext cx="2773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56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Mide qué tan preparada está para cambiar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594360" y="4800600"/>
            <a:ext cx="109728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B2B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Qué dejamos afuera y por qué: PESTEL completo y FODA cruzado. El primero devolvía casilleros vacíos para una pyme regional de snacks; el segundo deriva iniciativas, y esta entrega es diagnóstico. Cadena de valor y cinco fuerzas las usamos como insumo del FODA, no como lámina aparte.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57200"/>
            <a:ext cx="10972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spc="120" kern="0" dirty="0">
                <a:solidFill>
                  <a:srgbClr val="1B2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FODA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1042416"/>
            <a:ext cx="10972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56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interno contra lo externo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94360" y="1600200"/>
            <a:ext cx="5326380" cy="2148840"/>
          </a:xfrm>
          <a:prstGeom prst="roundRect">
            <a:avLst>
              <a:gd name="adj" fmla="val 3404"/>
            </a:avLst>
          </a:prstGeom>
          <a:solidFill>
            <a:srgbClr val="DCEAE3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50392" y="1837944"/>
            <a:ext cx="48143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80" kern="0" dirty="0">
                <a:solidFill>
                  <a:srgbClr val="2F6B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FORTALEZAS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850392" y="2240280"/>
            <a:ext cx="4814316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B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57 distribuidores construidos en 53 años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B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Logística propia más transporte tercerizado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B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Habilitaciones RNE y RNPA vigentes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B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canal está conforme: el único reclamo es rotura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240780" y="1600200"/>
            <a:ext cx="5326380" cy="2148840"/>
          </a:xfrm>
          <a:prstGeom prst="roundRect">
            <a:avLst>
              <a:gd name="adj" fmla="val 3404"/>
            </a:avLst>
          </a:prstGeom>
          <a:solidFill>
            <a:srgbClr val="F3DFD9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496812" y="1837944"/>
            <a:ext cx="48143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80" kern="0" dirty="0">
                <a:solidFill>
                  <a:srgbClr val="A33B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DEBILIDADES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6496812" y="2240280"/>
            <a:ext cx="4814316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B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conocen el costo real por producto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B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Planta saturada, tapada con horas extras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B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saber del negocio está en los dueños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B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Sistema sin integrar y sin CRM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594360" y="3886200"/>
            <a:ext cx="5326380" cy="2148840"/>
          </a:xfrm>
          <a:prstGeom prst="roundRect">
            <a:avLst>
              <a:gd name="adj" fmla="val 3404"/>
            </a:avLst>
          </a:prstGeom>
          <a:solidFill>
            <a:srgbClr val="DDE8EF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850392" y="4123944"/>
            <a:ext cx="48143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80" kern="0" dirty="0">
                <a:solidFill>
                  <a:srgbClr val="1E5C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OPORTUNIDADES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850392" y="4526280"/>
            <a:ext cx="4814316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B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sitio ya está armado como tienda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B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Crecer por fraccionamiento sin ampliar planta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B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Aiello como modelo de cadena repetible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B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equipo tiene ganas de capacitarse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6240780" y="3886200"/>
            <a:ext cx="5326380" cy="2148840"/>
          </a:xfrm>
          <a:prstGeom prst="roundRect">
            <a:avLst>
              <a:gd name="adj" fmla="val 3404"/>
            </a:avLst>
          </a:prstGeom>
          <a:solidFill>
            <a:srgbClr val="F6EBD8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496812" y="4123944"/>
            <a:ext cx="48143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80" kern="0" dirty="0">
                <a:solidFill>
                  <a:srgbClr val="8A57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AMENAZAS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6496812" y="4526280"/>
            <a:ext cx="4814316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B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Inflación sobre un modelo que compite por precio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B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solo proveedor de film impreso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B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margen de planta si sube la demanda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B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Perder un cliente sin llegar a enterarse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384048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spc="120" kern="0" dirty="0">
                <a:solidFill>
                  <a:srgbClr val="1B2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BUSINESS MODEL CANVAS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11480" y="896112"/>
            <a:ext cx="11338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56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 actual · los nueve bloques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11480" y="1325880"/>
            <a:ext cx="2201875" cy="3291840"/>
          </a:xfrm>
          <a:prstGeom prst="roundRect">
            <a:avLst>
              <a:gd name="adj" fmla="val 2492"/>
            </a:avLst>
          </a:prstGeom>
          <a:solidFill>
            <a:srgbClr val="EFEADC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30352" y="1408176"/>
            <a:ext cx="196413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50" kern="0" dirty="0">
                <a:solidFill>
                  <a:srgbClr val="5563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· SOCIOS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30352" y="1655064"/>
            <a:ext cx="1964131" cy="2871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1B2B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Film impreso: un proveedor</a:t>
            </a:r>
            <a:endParaRPr lang="en-US" sz="950" dirty="0"/>
          </a:p>
          <a:p>
            <a:pPr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1B2B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Materia prima a granel</a:t>
            </a:r>
            <a:endParaRPr lang="en-US" sz="950" dirty="0"/>
          </a:p>
          <a:p>
            <a:pPr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1B2B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Producto terminado a granel</a:t>
            </a:r>
            <a:endParaRPr lang="en-US" sz="950" dirty="0"/>
          </a:p>
          <a:p>
            <a:pPr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1B2B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57 distribuidores</a:t>
            </a:r>
            <a:endParaRPr lang="en-US" sz="950" dirty="0"/>
          </a:p>
          <a:p>
            <a:pPr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1B2B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Transportistas tercerizados</a:t>
            </a:r>
            <a:endParaRPr lang="en-US" sz="950" dirty="0"/>
          </a:p>
          <a:p>
            <a:pPr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1B2B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Aiello Supermercados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2695651" y="1325880"/>
            <a:ext cx="2201875" cy="1604772"/>
          </a:xfrm>
          <a:prstGeom prst="roundRect">
            <a:avLst>
              <a:gd name="adj" fmla="val 3419"/>
            </a:avLst>
          </a:prstGeom>
          <a:solidFill>
            <a:srgbClr val="EFEADC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2814523" y="1408176"/>
            <a:ext cx="196413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50" kern="0" dirty="0">
                <a:solidFill>
                  <a:srgbClr val="5563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· ACTIVIDADES</a:t>
            </a:r>
            <a:endParaRPr lang="en-US" sz="1050" dirty="0"/>
          </a:p>
        </p:txBody>
      </p:sp>
      <p:sp>
        <p:nvSpPr>
          <p:cNvPr id="9" name="Text 7"/>
          <p:cNvSpPr txBox="1"/>
          <p:nvPr/>
        </p:nvSpPr>
        <p:spPr>
          <a:xfrm>
            <a:off x="2814523" y="1655064"/>
            <a:ext cx="1964131" cy="11841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1B2B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Producción</a:t>
            </a:r>
            <a:endParaRPr lang="en-US" sz="950" dirty="0"/>
          </a:p>
          <a:p>
            <a:pPr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1B2B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Fraccionamiento y envasado</a:t>
            </a:r>
            <a:endParaRPr lang="en-US" sz="950" dirty="0"/>
          </a:p>
          <a:p>
            <a:pPr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1B2B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Distribución y logística</a:t>
            </a:r>
            <a:endParaRPr lang="en-US" sz="950" dirty="0"/>
          </a:p>
          <a:p>
            <a:pPr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1B2B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Compras</a:t>
            </a:r>
            <a:endParaRPr lang="en-US" sz="950" dirty="0"/>
          </a:p>
          <a:p>
            <a:pPr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1B2B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Administración y cobranza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2695651" y="3012948"/>
            <a:ext cx="2201875" cy="1604772"/>
          </a:xfrm>
          <a:prstGeom prst="roundRect">
            <a:avLst>
              <a:gd name="adj" fmla="val 3419"/>
            </a:avLst>
          </a:prstGeom>
          <a:solidFill>
            <a:srgbClr val="EFEADC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2814523" y="3095244"/>
            <a:ext cx="196413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50" kern="0" dirty="0">
                <a:solidFill>
                  <a:srgbClr val="5563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· RECURSOS</a:t>
            </a:r>
            <a:endParaRPr lang="en-US" sz="1050" dirty="0"/>
          </a:p>
        </p:txBody>
      </p:sp>
      <p:sp>
        <p:nvSpPr>
          <p:cNvPr id="12" name="Text 10"/>
          <p:cNvSpPr txBox="1"/>
          <p:nvPr/>
        </p:nvSpPr>
        <p:spPr>
          <a:xfrm>
            <a:off x="2814523" y="3342132"/>
            <a:ext cx="1964131" cy="11841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1B2B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red de 57 clientes</a:t>
            </a:r>
            <a:endParaRPr lang="en-US" sz="950" dirty="0"/>
          </a:p>
          <a:p>
            <a:pPr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1B2B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Planta al límite</a:t>
            </a:r>
            <a:endParaRPr lang="en-US" sz="950" dirty="0"/>
          </a:p>
          <a:p>
            <a:pPr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1B2B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Saber en los dueños</a:t>
            </a:r>
            <a:endParaRPr lang="en-US" sz="950" dirty="0"/>
          </a:p>
          <a:p>
            <a:pPr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1B2B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RNE / RNPA</a:t>
            </a:r>
            <a:endParaRPr lang="en-US" sz="950" dirty="0"/>
          </a:p>
          <a:p>
            <a:pPr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1B2B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Marca y flota propia</a:t>
            </a:r>
            <a:endParaRPr lang="en-US" sz="950" dirty="0"/>
          </a:p>
          <a:p>
            <a:pPr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1B2B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Planilla inexacta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4979822" y="1325880"/>
            <a:ext cx="2201875" cy="3291840"/>
          </a:xfrm>
          <a:prstGeom prst="roundRect">
            <a:avLst>
              <a:gd name="adj" fmla="val 2492"/>
            </a:avLst>
          </a:prstGeom>
          <a:solidFill>
            <a:srgbClr val="1B2B34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098694" y="1408176"/>
            <a:ext cx="196413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50" kern="0" dirty="0">
                <a:solidFill>
                  <a:srgbClr val="C879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· PROPUESTA</a:t>
            </a:r>
            <a:endParaRPr lang="en-US" sz="1050" dirty="0"/>
          </a:p>
        </p:txBody>
      </p:sp>
      <p:sp>
        <p:nvSpPr>
          <p:cNvPr id="15" name="Text 13"/>
          <p:cNvSpPr txBox="1"/>
          <p:nvPr/>
        </p:nvSpPr>
        <p:spPr>
          <a:xfrm>
            <a:off x="5098694" y="1655064"/>
            <a:ext cx="1964131" cy="2871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950" b="1" dirty="0">
                <a:solidFill>
                  <a:srgbClr val="C879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Rentabilidad al que revende</a:t>
            </a:r>
            <a:endParaRPr lang="en-US" sz="950" dirty="0"/>
          </a:p>
          <a:p>
            <a:pPr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C3D0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Logística como diferencial</a:t>
            </a:r>
            <a:endParaRPr lang="en-US" sz="950" dirty="0"/>
          </a:p>
          <a:p>
            <a:pPr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C3D0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Precio competitivo</a:t>
            </a:r>
            <a:endParaRPr lang="en-US" sz="950" dirty="0"/>
          </a:p>
          <a:p>
            <a:pPr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C3D0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Portafolio en un proveedor</a:t>
            </a:r>
            <a:endParaRPr lang="en-US" sz="950" dirty="0"/>
          </a:p>
          <a:p>
            <a:pPr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C3D0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Formatos de 1 y 2 Kg</a:t>
            </a:r>
            <a:endParaRPr lang="en-US" sz="950" dirty="0"/>
          </a:p>
          <a:p>
            <a:pPr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C3D0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Fraccionamiento de terceros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7263994" y="1325880"/>
            <a:ext cx="2201875" cy="1604772"/>
          </a:xfrm>
          <a:prstGeom prst="roundRect">
            <a:avLst>
              <a:gd name="adj" fmla="val 3419"/>
            </a:avLst>
          </a:prstGeom>
          <a:solidFill>
            <a:srgbClr val="EFEADC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7382866" y="1408176"/>
            <a:ext cx="196413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50" kern="0" dirty="0">
                <a:solidFill>
                  <a:srgbClr val="5563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· RELACIÓN</a:t>
            </a:r>
            <a:endParaRPr lang="en-US" sz="1050" dirty="0"/>
          </a:p>
        </p:txBody>
      </p:sp>
      <p:sp>
        <p:nvSpPr>
          <p:cNvPr id="18" name="Text 16"/>
          <p:cNvSpPr txBox="1"/>
          <p:nvPr/>
        </p:nvSpPr>
        <p:spPr>
          <a:xfrm>
            <a:off x="7382866" y="1655064"/>
            <a:ext cx="1964131" cy="11841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1B2B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mantiene la empresa</a:t>
            </a:r>
            <a:endParaRPr lang="en-US" sz="950" dirty="0"/>
          </a:p>
          <a:p>
            <a:pPr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1B2B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Exclusividad territorial</a:t>
            </a:r>
            <a:endParaRPr lang="en-US" sz="950" dirty="0"/>
          </a:p>
          <a:p>
            <a:pPr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1B2B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Horario acotado</a:t>
            </a:r>
            <a:endParaRPr lang="en-US" sz="950" dirty="0"/>
          </a:p>
          <a:p>
            <a:pPr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1B2B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CRM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7263994" y="3012948"/>
            <a:ext cx="2201875" cy="1604772"/>
          </a:xfrm>
          <a:prstGeom prst="roundRect">
            <a:avLst>
              <a:gd name="adj" fmla="val 3419"/>
            </a:avLst>
          </a:prstGeom>
          <a:solidFill>
            <a:srgbClr val="EFEADC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7382866" y="3095244"/>
            <a:ext cx="196413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50" kern="0" dirty="0">
                <a:solidFill>
                  <a:srgbClr val="5563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· CANALES</a:t>
            </a:r>
            <a:endParaRPr lang="en-US" sz="1050" dirty="0"/>
          </a:p>
        </p:txBody>
      </p:sp>
      <p:sp>
        <p:nvSpPr>
          <p:cNvPr id="21" name="Text 19"/>
          <p:cNvSpPr txBox="1"/>
          <p:nvPr/>
        </p:nvSpPr>
        <p:spPr>
          <a:xfrm>
            <a:off x="7382866" y="3342132"/>
            <a:ext cx="1964131" cy="11841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1B2B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Flota, fletes y retiro</a:t>
            </a:r>
            <a:endParaRPr lang="en-US" sz="950" dirty="0"/>
          </a:p>
          <a:p>
            <a:pPr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1B2B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Viajante con zona</a:t>
            </a:r>
            <a:endParaRPr lang="en-US" sz="950" dirty="0"/>
          </a:p>
          <a:p>
            <a:pPr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1B2B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WhatsApp y teléfono</a:t>
            </a:r>
            <a:endParaRPr lang="en-US" sz="950" dirty="0"/>
          </a:p>
          <a:p>
            <a:pPr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1B2B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Redes: marca, no venta</a:t>
            </a:r>
            <a:endParaRPr lang="en-US" sz="950" dirty="0"/>
          </a:p>
          <a:p>
            <a:pPr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1B2B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tienda operativa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9548165" y="1325880"/>
            <a:ext cx="2201875" cy="3291840"/>
          </a:xfrm>
          <a:prstGeom prst="roundRect">
            <a:avLst>
              <a:gd name="adj" fmla="val 2492"/>
            </a:avLst>
          </a:prstGeom>
          <a:solidFill>
            <a:srgbClr val="EFEADC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9667037" y="1408176"/>
            <a:ext cx="196413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50" kern="0" dirty="0">
                <a:solidFill>
                  <a:srgbClr val="5563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· SEGMENTOS</a:t>
            </a:r>
            <a:endParaRPr lang="en-US" sz="1050" dirty="0"/>
          </a:p>
        </p:txBody>
      </p:sp>
      <p:sp>
        <p:nvSpPr>
          <p:cNvPr id="24" name="Text 22"/>
          <p:cNvSpPr txBox="1"/>
          <p:nvPr/>
        </p:nvSpPr>
        <p:spPr>
          <a:xfrm>
            <a:off x="9667037" y="1655064"/>
            <a:ext cx="1964131" cy="2871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1B2B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57 distribuidores mayoristas</a:t>
            </a:r>
            <a:endParaRPr lang="en-US" sz="950" dirty="0"/>
          </a:p>
          <a:p>
            <a:pPr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1B2B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provincias, con exclusividad</a:t>
            </a:r>
            <a:endParaRPr lang="en-US" sz="950" dirty="0"/>
          </a:p>
          <a:p>
            <a:pPr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1B2B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Aiello, única cadena, San Luis</a:t>
            </a:r>
            <a:endParaRPr lang="en-US" sz="950" dirty="0"/>
          </a:p>
          <a:p>
            <a:pPr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1B2B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Nunca al consumidor final</a:t>
            </a:r>
            <a:endParaRPr lang="en-US" sz="950" dirty="0"/>
          </a:p>
          <a:p>
            <a:pPr indent="0" marL="0">
              <a:lnSpc>
                <a:spcPts val="1400"/>
              </a:lnSpc>
              <a:buNone/>
            </a:pPr>
            <a:r>
              <a:rPr lang="en-US" sz="950" b="1" dirty="0">
                <a:solidFill>
                  <a:srgbClr val="556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61% de la red en Patagonia. Mendoza, apenas el 10%.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411480" y="4700016"/>
            <a:ext cx="6770218" cy="1234440"/>
          </a:xfrm>
          <a:prstGeom prst="roundRect">
            <a:avLst>
              <a:gd name="adj" fmla="val 4444"/>
            </a:avLst>
          </a:prstGeom>
          <a:solidFill>
            <a:srgbClr val="F3DFD9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530352" y="4782312"/>
            <a:ext cx="653247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50" kern="0" dirty="0">
                <a:solidFill>
                  <a:srgbClr val="A33B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 · ESTRUCTURA DE COSTOS</a:t>
            </a:r>
            <a:endParaRPr lang="en-US" sz="1050" dirty="0"/>
          </a:p>
        </p:txBody>
      </p:sp>
      <p:sp>
        <p:nvSpPr>
          <p:cNvPr id="27" name="Text 25"/>
          <p:cNvSpPr txBox="1"/>
          <p:nvPr/>
        </p:nvSpPr>
        <p:spPr>
          <a:xfrm>
            <a:off x="530352" y="5029200"/>
            <a:ext cx="6532474" cy="8138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1B2B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Materia prima · packaging y film (+25 formatos) · mano de obra · logística y flete · energía · costo financiero</a:t>
            </a:r>
            <a:endParaRPr lang="en-US" sz="950" dirty="0"/>
          </a:p>
          <a:p>
            <a:pPr indent="0" marL="0">
              <a:lnSpc>
                <a:spcPts val="1400"/>
              </a:lnSpc>
              <a:buNone/>
            </a:pPr>
            <a:r>
              <a:rPr lang="en-US" sz="950" b="1" dirty="0">
                <a:solidFill>
                  <a:srgbClr val="A33B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Ningún costo está asignado por producto. Se fija precio sobre una base que se sabe equivocada.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7263994" y="4700016"/>
            <a:ext cx="4486046" cy="1234440"/>
          </a:xfrm>
          <a:prstGeom prst="roundRect">
            <a:avLst>
              <a:gd name="adj" fmla="val 4444"/>
            </a:avLst>
          </a:prstGeom>
          <a:solidFill>
            <a:srgbClr val="DCEAE3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7382866" y="4782312"/>
            <a:ext cx="424830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50" kern="0" dirty="0">
                <a:solidFill>
                  <a:srgbClr val="2F6B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· FUENTES DE INGRESOS</a:t>
            </a:r>
            <a:endParaRPr lang="en-US" sz="1050" dirty="0"/>
          </a:p>
        </p:txBody>
      </p:sp>
      <p:sp>
        <p:nvSpPr>
          <p:cNvPr id="30" name="Text 28"/>
          <p:cNvSpPr txBox="1"/>
          <p:nvPr/>
        </p:nvSpPr>
        <p:spPr>
          <a:xfrm>
            <a:off x="7382866" y="5029200"/>
            <a:ext cx="4248302" cy="8138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1B2B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Venta mayorista · Aiello · producto fraccionado</a:t>
            </a:r>
            <a:endParaRPr lang="en-US" sz="950" dirty="0"/>
          </a:p>
          <a:p>
            <a:pPr indent="0" marL="0">
              <a:lnSpc>
                <a:spcPts val="1400"/>
              </a:lnSpc>
              <a:buNone/>
            </a:pPr>
            <a:r>
              <a:rPr lang="en-US" sz="950" b="1" dirty="0">
                <a:solidFill>
                  <a:srgbClr val="2F6B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Contado, cuenta corriente a 30 días y cheques diferidos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57200"/>
            <a:ext cx="10972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spc="120" kern="0" dirty="0">
                <a:solidFill>
                  <a:srgbClr val="1B2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 QUE MUESTRA EL CANVAS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118872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200"/>
              </a:lnSpc>
              <a:buNone/>
            </a:pPr>
            <a:r>
              <a:rPr lang="en-US" sz="2400" b="1" dirty="0">
                <a:solidFill>
                  <a:srgbClr val="1B2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le vende sabor al consumidor: le vende rentabilidad al canal. Es liderazgo en costos, no diferenciación.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94360" y="2286000"/>
            <a:ext cx="3444240" cy="2377440"/>
          </a:xfrm>
          <a:prstGeom prst="roundRect">
            <a:avLst>
              <a:gd name="adj" fmla="val 3077"/>
            </a:avLst>
          </a:prstGeom>
          <a:solidFill>
            <a:srgbClr val="F3DFD9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50392" y="2523744"/>
            <a:ext cx="29321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80" kern="0" dirty="0">
                <a:solidFill>
                  <a:srgbClr val="A33B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COMPITE POR PRECIO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850392" y="2926080"/>
            <a:ext cx="2932176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B2B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 ningún costo está asignado por producto. La única ventaja que declara se apoya en una planilla que la empresa sabe equivocada.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4358640" y="2286000"/>
            <a:ext cx="3444240" cy="2377440"/>
          </a:xfrm>
          <a:prstGeom prst="roundRect">
            <a:avLst>
              <a:gd name="adj" fmla="val 3077"/>
            </a:avLst>
          </a:prstGeom>
          <a:solidFill>
            <a:srgbClr val="EFEADC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4614672" y="2523744"/>
            <a:ext cx="29321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80" kern="0" dirty="0">
                <a:solidFill>
                  <a:srgbClr val="1B2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MEJOR ACTIVO, SIN SISTEMA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4614672" y="2926080"/>
            <a:ext cx="2932176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B2B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red de 57 distribuidores no tiene CRM, no se mide cuánto pesa cada uno y la lista que publican tiene duplicados.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8122920" y="2286000"/>
            <a:ext cx="3444240" cy="2377440"/>
          </a:xfrm>
          <a:prstGeom prst="roundRect">
            <a:avLst>
              <a:gd name="adj" fmla="val 3077"/>
            </a:avLst>
          </a:prstGeom>
          <a:solidFill>
            <a:srgbClr val="EFEADC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8378952" y="2523744"/>
            <a:ext cx="29321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80" kern="0" dirty="0">
                <a:solidFill>
                  <a:srgbClr val="1B2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TODO PASA POR LOS DUEÑOS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8378952" y="2926080"/>
            <a:ext cx="2932176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B2B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Recetas, costos y la relación con cada distribuidor no están escritos en ningún lado ni viven en ningún sistema.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594360" y="489204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556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Ninguno de los tres se ve desde afuera, porque el canal está conforme.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594360" y="626364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FA3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Dulxelitos · Gestión Gerencial · UTN FRSR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57200"/>
            <a:ext cx="10972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spc="120" kern="0" dirty="0">
                <a:solidFill>
                  <a:srgbClr val="1B2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MADUREZ DIGITAL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1042416"/>
            <a:ext cx="10972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56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modelo de la cátedra: 28 preguntas sobre 7 dimensiones, escala de 1 a 5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594360" y="1691640"/>
            <a:ext cx="30175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0" b="1" dirty="0">
                <a:solidFill>
                  <a:srgbClr val="A33B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1.79</a:t>
            </a:r>
            <a:endParaRPr lang="en-US" sz="8800" dirty="0"/>
          </a:p>
        </p:txBody>
      </p:sp>
      <p:sp>
        <p:nvSpPr>
          <p:cNvPr id="5" name="Text 3"/>
          <p:cNvSpPr txBox="1"/>
          <p:nvPr/>
        </p:nvSpPr>
        <p:spPr>
          <a:xfrm>
            <a:off x="594360" y="3108960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2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Nivel Inicial</a:t>
            </a:r>
            <a:endParaRPr lang="en-US" sz="2200" dirty="0"/>
          </a:p>
        </p:txBody>
      </p:sp>
      <p:sp>
        <p:nvSpPr>
          <p:cNvPr id="6" name="Text 4"/>
          <p:cNvSpPr txBox="1"/>
          <p:nvPr/>
        </p:nvSpPr>
        <p:spPr>
          <a:xfrm>
            <a:off x="594360" y="3547872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56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 puntos sobre 28 preguntas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594360" y="4069080"/>
            <a:ext cx="3017520" cy="1920240"/>
          </a:xfrm>
          <a:prstGeom prst="roundRect">
            <a:avLst>
              <a:gd name="adj" fmla="val 3810"/>
            </a:avLst>
          </a:prstGeom>
          <a:solidFill>
            <a:srgbClr val="F3DFD9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50392" y="4306824"/>
            <a:ext cx="2505456" cy="1499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B2B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dos dimensiones más bajas no son sobre herramientas: son sobre decidir y controlar.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7159752" y="1691640"/>
            <a:ext cx="0" cy="3931920"/>
          </a:xfrm>
          <a:prstGeom prst="line">
            <a:avLst/>
          </a:prstGeom>
          <a:noFill/>
          <a:ln w="12700">
            <a:solidFill>
              <a:srgbClr val="E2DCCC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976872" y="5641848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FA3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8101584" y="1691640"/>
            <a:ext cx="0" cy="3931920"/>
          </a:xfrm>
          <a:prstGeom prst="line">
            <a:avLst/>
          </a:prstGeom>
          <a:noFill/>
          <a:ln w="12700">
            <a:solidFill>
              <a:srgbClr val="E2DCCC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918704" y="5641848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FA3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9043416" y="1691640"/>
            <a:ext cx="0" cy="3931920"/>
          </a:xfrm>
          <a:prstGeom prst="line">
            <a:avLst/>
          </a:prstGeom>
          <a:noFill/>
          <a:ln w="12700">
            <a:solidFill>
              <a:srgbClr val="E2DCCC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860536" y="5641848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FA3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9985248" y="1691640"/>
            <a:ext cx="0" cy="3931920"/>
          </a:xfrm>
          <a:prstGeom prst="line">
            <a:avLst/>
          </a:prstGeom>
          <a:noFill/>
          <a:ln w="12700">
            <a:solidFill>
              <a:srgbClr val="E2DCCC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9802368" y="5641848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FA3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10927080" y="1691640"/>
            <a:ext cx="0" cy="3931920"/>
          </a:xfrm>
          <a:prstGeom prst="line">
            <a:avLst/>
          </a:prstGeom>
          <a:noFill/>
          <a:ln w="12700">
            <a:solidFill>
              <a:srgbClr val="E2DCCC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10744200" y="5641848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FA3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  <p:sp>
        <p:nvSpPr>
          <p:cNvPr id="19" name="Text 17"/>
          <p:cNvSpPr txBox="1"/>
          <p:nvPr/>
        </p:nvSpPr>
        <p:spPr>
          <a:xfrm>
            <a:off x="4114800" y="1691640"/>
            <a:ext cx="1993392" cy="5617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B2B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Procesos y Operaciones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6217920" y="1844475"/>
            <a:ext cx="2354580" cy="256032"/>
          </a:xfrm>
          <a:prstGeom prst="rect">
            <a:avLst/>
          </a:prstGeom>
          <a:solidFill>
            <a:srgbClr val="2F6B5E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8663940" y="1691640"/>
            <a:ext cx="594360" cy="5617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2.50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4114800" y="2253343"/>
            <a:ext cx="1993392" cy="5617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B2B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Tecnología y Datos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217920" y="2406178"/>
            <a:ext cx="2119122" cy="256032"/>
          </a:xfrm>
          <a:prstGeom prst="rect">
            <a:avLst/>
          </a:prstGeom>
          <a:solidFill>
            <a:srgbClr val="2F6B5E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8428482" y="2253343"/>
            <a:ext cx="594360" cy="5617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2.25</a:t>
            </a:r>
            <a:endParaRPr lang="en-US" sz="1300" dirty="0"/>
          </a:p>
        </p:txBody>
      </p:sp>
      <p:sp>
        <p:nvSpPr>
          <p:cNvPr id="25" name="Text 23"/>
          <p:cNvSpPr txBox="1"/>
          <p:nvPr/>
        </p:nvSpPr>
        <p:spPr>
          <a:xfrm>
            <a:off x="4114800" y="2815046"/>
            <a:ext cx="1993392" cy="5617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B2B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Clientes y Canales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6217920" y="2967881"/>
            <a:ext cx="1883664" cy="256032"/>
          </a:xfrm>
          <a:prstGeom prst="rect">
            <a:avLst/>
          </a:prstGeom>
          <a:solidFill>
            <a:srgbClr val="2F6B5E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8193024" y="2815046"/>
            <a:ext cx="594360" cy="5617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2.00</a:t>
            </a:r>
            <a:endParaRPr lang="en-US" sz="1300" dirty="0"/>
          </a:p>
        </p:txBody>
      </p:sp>
      <p:sp>
        <p:nvSpPr>
          <p:cNvPr id="28" name="Text 26"/>
          <p:cNvSpPr txBox="1"/>
          <p:nvPr/>
        </p:nvSpPr>
        <p:spPr>
          <a:xfrm>
            <a:off x="4114800" y="3376749"/>
            <a:ext cx="1993392" cy="5617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B2B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Liderazgo y Cultura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6217920" y="3529584"/>
            <a:ext cx="1412748" cy="256032"/>
          </a:xfrm>
          <a:prstGeom prst="rect">
            <a:avLst/>
          </a:prstGeom>
          <a:solidFill>
            <a:srgbClr val="C8791E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7722108" y="3376749"/>
            <a:ext cx="594360" cy="5617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1.50</a:t>
            </a:r>
            <a:endParaRPr lang="en-US" sz="1300" dirty="0"/>
          </a:p>
        </p:txBody>
      </p:sp>
      <p:sp>
        <p:nvSpPr>
          <p:cNvPr id="31" name="Text 29"/>
          <p:cNvSpPr txBox="1"/>
          <p:nvPr/>
        </p:nvSpPr>
        <p:spPr>
          <a:xfrm>
            <a:off x="4114800" y="3938451"/>
            <a:ext cx="1993392" cy="5617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B2B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Personas y Habilidades</a:t>
            </a:r>
            <a:endParaRPr lang="en-US" sz="1300" dirty="0"/>
          </a:p>
        </p:txBody>
      </p:sp>
      <p:sp>
        <p:nvSpPr>
          <p:cNvPr id="32" name="Shape 30"/>
          <p:cNvSpPr/>
          <p:nvPr/>
        </p:nvSpPr>
        <p:spPr>
          <a:xfrm>
            <a:off x="6217920" y="4091287"/>
            <a:ext cx="1412748" cy="256032"/>
          </a:xfrm>
          <a:prstGeom prst="rect">
            <a:avLst/>
          </a:prstGeom>
          <a:solidFill>
            <a:srgbClr val="C8791E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7722108" y="3938451"/>
            <a:ext cx="594360" cy="5617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1.50</a:t>
            </a:r>
            <a:endParaRPr lang="en-US" sz="1300" dirty="0"/>
          </a:p>
        </p:txBody>
      </p:sp>
      <p:sp>
        <p:nvSpPr>
          <p:cNvPr id="34" name="Text 32"/>
          <p:cNvSpPr txBox="1"/>
          <p:nvPr/>
        </p:nvSpPr>
        <p:spPr>
          <a:xfrm>
            <a:off x="4114800" y="4500154"/>
            <a:ext cx="1993392" cy="5617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B2B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Gobierno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6217920" y="4652990"/>
            <a:ext cx="1412748" cy="256032"/>
          </a:xfrm>
          <a:prstGeom prst="rect">
            <a:avLst/>
          </a:prstGeom>
          <a:solidFill>
            <a:srgbClr val="A33B22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7722108" y="4500154"/>
            <a:ext cx="594360" cy="5617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1.50</a:t>
            </a:r>
            <a:endParaRPr lang="en-US" sz="1300" dirty="0"/>
          </a:p>
        </p:txBody>
      </p:sp>
      <p:sp>
        <p:nvSpPr>
          <p:cNvPr id="37" name="Text 35"/>
          <p:cNvSpPr txBox="1"/>
          <p:nvPr/>
        </p:nvSpPr>
        <p:spPr>
          <a:xfrm>
            <a:off x="4114800" y="5061857"/>
            <a:ext cx="1993392" cy="5617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B2B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Estrategia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6217920" y="5214693"/>
            <a:ext cx="1177290" cy="256032"/>
          </a:xfrm>
          <a:prstGeom prst="rect">
            <a:avLst/>
          </a:prstGeom>
          <a:solidFill>
            <a:srgbClr val="A33B22"/>
          </a:solidFill>
          <a:ln/>
        </p:spPr>
      </p:sp>
      <p:sp>
        <p:nvSpPr>
          <p:cNvPr id="39" name="Text 37"/>
          <p:cNvSpPr txBox="1"/>
          <p:nvPr/>
        </p:nvSpPr>
        <p:spPr>
          <a:xfrm>
            <a:off x="7486650" y="5061857"/>
            <a:ext cx="594360" cy="5617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1.25</a:t>
            </a:r>
            <a:endParaRPr lang="en-US" sz="1300" dirty="0"/>
          </a:p>
        </p:txBody>
      </p:sp>
      <p:sp>
        <p:nvSpPr>
          <p:cNvPr id="40" name="Text 38"/>
          <p:cNvSpPr txBox="1"/>
          <p:nvPr/>
        </p:nvSpPr>
        <p:spPr>
          <a:xfrm>
            <a:off x="594360" y="626364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FA3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Dulxelitos · Gestión Gerencial · UTN FRSR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B2B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5720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spc="120" kern="0" dirty="0">
                <a:solidFill>
                  <a:srgbClr val="F7F4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LAS CONCLUSIONES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1078992"/>
            <a:ext cx="109728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800"/>
              </a:lnSpc>
              <a:buNone/>
            </a:pPr>
            <a:r>
              <a:rPr lang="en-US" sz="3200" b="1" dirty="0">
                <a:solidFill>
                  <a:srgbClr val="C879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está mal gestionada.</a:t>
            </a:r>
            <a:endParaRPr lang="en-US" sz="3200" dirty="0"/>
          </a:p>
          <a:p>
            <a:pPr indent="0" marL="0">
              <a:lnSpc>
                <a:spcPts val="3800"/>
              </a:lnSpc>
              <a:buNone/>
            </a:pPr>
            <a:r>
              <a:rPr lang="en-US" sz="3200" b="1" dirty="0">
                <a:solidFill>
                  <a:srgbClr val="C879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Decide sin instrumentos.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94360" y="2331720"/>
            <a:ext cx="3444240" cy="2743200"/>
          </a:xfrm>
          <a:prstGeom prst="roundRect">
            <a:avLst>
              <a:gd name="adj" fmla="val 3333"/>
            </a:avLst>
          </a:prstGeom>
          <a:solidFill>
            <a:srgbClr val="22353F"/>
          </a:solidFill>
          <a:ln/>
        </p:spPr>
      </p:sp>
      <p:sp>
        <p:nvSpPr>
          <p:cNvPr id="5" name="Shape 3"/>
          <p:cNvSpPr/>
          <p:nvPr/>
        </p:nvSpPr>
        <p:spPr>
          <a:xfrm>
            <a:off x="886968" y="2578608"/>
            <a:ext cx="548640" cy="548640"/>
          </a:xfrm>
          <a:prstGeom prst="ellipse">
            <a:avLst/>
          </a:prstGeom>
          <a:solidFill>
            <a:srgbClr val="C8791E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86968" y="257860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B2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886968" y="3273552"/>
            <a:ext cx="285902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F7F4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Compite por precio sin conocer su costo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886968" y="4041648"/>
            <a:ext cx="285902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C3D0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única ventaja que declara es el precio, y la planilla que lo sostiene la propia empresa la reconoce imprecisa.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358640" y="2331720"/>
            <a:ext cx="3444240" cy="2743200"/>
          </a:xfrm>
          <a:prstGeom prst="roundRect">
            <a:avLst>
              <a:gd name="adj" fmla="val 3333"/>
            </a:avLst>
          </a:prstGeom>
          <a:solidFill>
            <a:srgbClr val="22353F"/>
          </a:solidFill>
          <a:ln/>
        </p:spPr>
      </p:sp>
      <p:sp>
        <p:nvSpPr>
          <p:cNvPr id="10" name="Shape 8"/>
          <p:cNvSpPr/>
          <p:nvPr/>
        </p:nvSpPr>
        <p:spPr>
          <a:xfrm>
            <a:off x="4651248" y="2578608"/>
            <a:ext cx="548640" cy="548640"/>
          </a:xfrm>
          <a:prstGeom prst="ellipse">
            <a:avLst/>
          </a:prstGeom>
          <a:solidFill>
            <a:srgbClr val="C8791E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651248" y="257860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B2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4651248" y="3273552"/>
            <a:ext cx="285902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F7F4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Tapa la planta saturada con horas extras</a:t>
            </a:r>
            <a:endParaRPr lang="en-US" sz="1700" dirty="0"/>
          </a:p>
        </p:txBody>
      </p:sp>
      <p:sp>
        <p:nvSpPr>
          <p:cNvPr id="13" name="Text 11"/>
          <p:cNvSpPr txBox="1"/>
          <p:nvPr/>
        </p:nvSpPr>
        <p:spPr>
          <a:xfrm>
            <a:off x="4651248" y="4041648"/>
            <a:ext cx="285902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C3D0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capacidad está al límite y se cubre pagando horas, no resolviendo el cuello de botella.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8122920" y="2331720"/>
            <a:ext cx="3444240" cy="2743200"/>
          </a:xfrm>
          <a:prstGeom prst="roundRect">
            <a:avLst>
              <a:gd name="adj" fmla="val 3333"/>
            </a:avLst>
          </a:prstGeom>
          <a:solidFill>
            <a:srgbClr val="22353F"/>
          </a:solidFill>
          <a:ln/>
        </p:spPr>
      </p:sp>
      <p:sp>
        <p:nvSpPr>
          <p:cNvPr id="15" name="Shape 13"/>
          <p:cNvSpPr/>
          <p:nvPr/>
        </p:nvSpPr>
        <p:spPr>
          <a:xfrm>
            <a:off x="8415528" y="2578608"/>
            <a:ext cx="548640" cy="548640"/>
          </a:xfrm>
          <a:prstGeom prst="ellipse">
            <a:avLst/>
          </a:prstGeom>
          <a:solidFill>
            <a:srgbClr val="C8791E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8415528" y="257860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B2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2200" dirty="0"/>
          </a:p>
        </p:txBody>
      </p:sp>
      <p:sp>
        <p:nvSpPr>
          <p:cNvPr id="17" name="Text 15"/>
          <p:cNvSpPr txBox="1"/>
          <p:nvPr/>
        </p:nvSpPr>
        <p:spPr>
          <a:xfrm>
            <a:off x="8415528" y="3273552"/>
            <a:ext cx="285902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F7F4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 activo más valioso no tiene sistema detrás</a:t>
            </a:r>
            <a:endParaRPr lang="en-US" sz="1700" dirty="0"/>
          </a:p>
        </p:txBody>
      </p:sp>
      <p:sp>
        <p:nvSpPr>
          <p:cNvPr id="18" name="Text 16"/>
          <p:cNvSpPr txBox="1"/>
          <p:nvPr/>
        </p:nvSpPr>
        <p:spPr>
          <a:xfrm>
            <a:off x="8415528" y="4041648"/>
            <a:ext cx="285902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C3D0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57 distribuidores construidos en 53 años, sin CRM, sin medición de cartera y con la lista pública duplicada.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594360" y="525780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F7F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problema no está en el canal. El canal está conforme. Está puertas adentro.</a:t>
            </a:r>
            <a:endParaRPr lang="en-US" sz="1900" dirty="0"/>
          </a:p>
        </p:txBody>
      </p:sp>
      <p:sp>
        <p:nvSpPr>
          <p:cNvPr id="20" name="Text 18"/>
          <p:cNvSpPr txBox="1"/>
          <p:nvPr/>
        </p:nvSpPr>
        <p:spPr>
          <a:xfrm>
            <a:off x="594360" y="626364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FA3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Dulxelitos · Gestión Gerencial · UTN FRSR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Dulxelitos - Diagnostico gerencial</dc:title>
  <dc:subject>PptxGenJS Presentation</dc:subject>
  <dc:creator>Lepez Joaquin, Geyer Juan Jose, Lopez Juan, Sorato Emiliano</dc:creator>
  <cp:lastModifiedBy>Lepez Joaquin, Geyer Juan Jose, Lopez Juan, Sorato Emiliano</cp:lastModifiedBy>
  <cp:revision>1</cp:revision>
  <dcterms:created xsi:type="dcterms:W3CDTF">2026-09-21T20:20:01Z</dcterms:created>
  <dcterms:modified xsi:type="dcterms:W3CDTF">2026-09-21T20:20:01Z</dcterms:modified>
</cp:coreProperties>
</file>