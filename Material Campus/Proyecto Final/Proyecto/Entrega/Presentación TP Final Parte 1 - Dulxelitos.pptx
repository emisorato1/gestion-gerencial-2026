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diagnóstico de Dulxelitos, una fábrica de snacks de San Rafael. Aclarar de entrada que esta primera parte es solo diagnóstico: todavía no proponemos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Empresa familiar, 53 años en el mismo rubro. Fábrica, depósito y oficina están los tres en Av. Pedro Vargas 2400.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segmento minorista: el modelo entero está construido sobre mayoristas y una sola cadena. Y la red está lejos de la fábrica, así que logística, precio y servicio hay que pensarlos con el mapa de la Patagonia, no con el de San Rafael.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decirlo en voz alta: elegimos herramientas, no las aplicamos todas. El criterio fue aplicar una cuando producía evidencia sobre esta empresa en particular.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fortalezas y debilidades salen de mirar la cadena de valor; las oportunidades y amenazas, de los factores del entorno y de las cinco fuerzas. No lo cruzamos a propósito: el cruce deriva iniciativas y esta entrega es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canvas dividido en cuatro preguntas. EL CEREBRO es cómo lo hace: socios, actividades y recursos. EL CORAZÓN, el bloque oscuro del centro, es qué ofrece: rentabilidad al que revende. LOS CLIENTES es a quién le vende: segmentos, relación y canales. Y LA ECONOMÍA, abajo, es cuánto entra y cuánto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dimensiones llegan a Básico: Procesos, Tecnología y Clientes. El piso está en Estrategia y Gobierno. Agregamos Gobierno como séptima dimensión porque el enunciado pide siete y el modelo trae seis. Nivel Inicial no quiere decir mal gestionada: quiere decir que decide sin instrumentos.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acá. Los tres puntos salen de cruzar el FODA, el canvas y la madurez: las tres herramientas apuntan al mismo lado. Con esto queda armado el terreno para el problema gerencial priorizado, que es 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GERENCIAL · UTN FRSR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011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200" kern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DULXELITOS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474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Final · Parte 1 · Modelo de negocio actual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Lepez Joaquín · Geyer Juan José · Lopez Juan · Sorato Emiliano · Olivares Manuel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20" kern="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Fabricación, fraccionamiento y distribución de snacks · San Rafael, Mendoza · desde 1973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01168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803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años fabricando snacks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51860" y="201168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451860" y="28803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empresa familiar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1168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8803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líneas: salados, dulces, repostería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66860" y="2011680"/>
            <a:ext cx="240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9166860" y="28803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productos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4805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EFEAD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" y="4718304"/>
            <a:ext cx="10460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 sus líneas propias y además fracciona y envasa producto de terceros con su marca.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Dulxelitos · Gestión Gerencial · UTN FRSR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20" kern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VENDE AL DISTRIBUIDOR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al consumidor final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13760" cy="2834640"/>
          </a:xfrm>
          <a:prstGeom prst="roundRect">
            <a:avLst>
              <a:gd name="adj" fmla="val 3226"/>
            </a:avLst>
          </a:prstGeom>
          <a:solidFill>
            <a:srgbClr val="2235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Distribuidores mayoristas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73880" y="1737360"/>
            <a:ext cx="3413760" cy="2834640"/>
          </a:xfrm>
          <a:prstGeom prst="roundRect">
            <a:avLst>
              <a:gd name="adj" fmla="val 3226"/>
            </a:avLst>
          </a:prstGeom>
          <a:solidFill>
            <a:srgbClr val="2235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93920" y="19659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F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693920" y="306324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supermercados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93920" y="3822192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Aiello, de San Luis, con trato directo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3400" y="1737360"/>
            <a:ext cx="3413760" cy="2834640"/>
          </a:xfrm>
          <a:prstGeom prst="roundRect">
            <a:avLst>
              <a:gd name="adj" fmla="val 3226"/>
            </a:avLst>
          </a:prstGeom>
          <a:solidFill>
            <a:srgbClr val="2235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73440" y="19659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F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473440" y="306324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minorista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73440" y="3822192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local y sin tienda online operativa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892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Mendoza concentra el 35% de la red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Dulxelitos · Gestión Gerencial · UTN FRSR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87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50" kern="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LA MIRAMOS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herramientas de la materia, en este orden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3413760" cy="2194560"/>
          </a:xfrm>
          <a:prstGeom prst="roundRect">
            <a:avLst>
              <a:gd name="adj" fmla="val 4167"/>
            </a:avLst>
          </a:prstGeom>
          <a:solidFill>
            <a:srgbClr val="F7F4E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97480"/>
            <a:ext cx="548640" cy="54864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FODA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73880" y="2468880"/>
            <a:ext cx="3413760" cy="2194560"/>
          </a:xfrm>
          <a:prstGeom prst="roundRect">
            <a:avLst>
              <a:gd name="adj" fmla="val 4167"/>
            </a:avLst>
          </a:prstGeom>
          <a:solidFill>
            <a:srgbClr val="F7F4EC"/>
          </a:solidFill>
          <a:ln/>
        </p:spPr>
      </p:sp>
      <p:sp>
        <p:nvSpPr>
          <p:cNvPr id="9" name="Shape 7"/>
          <p:cNvSpPr/>
          <p:nvPr/>
        </p:nvSpPr>
        <p:spPr>
          <a:xfrm>
            <a:off x="4693920" y="2697480"/>
            <a:ext cx="548640" cy="54864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39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93920" y="347472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53400" y="2468880"/>
            <a:ext cx="3413760" cy="2194560"/>
          </a:xfrm>
          <a:prstGeom prst="roundRect">
            <a:avLst>
              <a:gd name="adj" fmla="val 4167"/>
            </a:avLst>
          </a:prstGeom>
          <a:solidFill>
            <a:srgbClr val="F7F4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73440" y="2697480"/>
            <a:ext cx="548640" cy="54864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734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73440" y="347472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 DIGITAL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20" kern="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interno contra lo externo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26380" cy="2148840"/>
          </a:xfrm>
          <a:prstGeom prst="roundRect">
            <a:avLst>
              <a:gd name="adj" fmla="val 3404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" y="1837944"/>
            <a:ext cx="48143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24028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distribuidores construidos en 53 años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propia más transporte tercerizado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Habilitaciones RNE y RNPA vigentes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0780" y="1600200"/>
            <a:ext cx="5326380" cy="2148840"/>
          </a:xfrm>
          <a:prstGeom prst="roundRect">
            <a:avLst>
              <a:gd name="adj" fmla="val 3404"/>
            </a:avLst>
          </a:prstGeom>
          <a:solidFill>
            <a:srgbClr val="F3D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6812" y="1837944"/>
            <a:ext cx="48143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A3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DEBILIDADES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6812" y="224028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conocen el costo real por producto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saturada, tapada con horas extras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saber del negocio está en los dueños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5326380" cy="2148840"/>
          </a:xfrm>
          <a:prstGeom prst="roundRect">
            <a:avLst>
              <a:gd name="adj" fmla="val 3404"/>
            </a:avLst>
          </a:prstGeom>
          <a:solidFill>
            <a:srgbClr val="DDE8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" y="4123944"/>
            <a:ext cx="48143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1E5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452628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por fraccionamiento sin ampliar planta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Aiello como modelo de cadena repetible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tiene ganas de capacitarse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0780" y="3886200"/>
            <a:ext cx="5326380" cy="2148840"/>
          </a:xfrm>
          <a:prstGeom prst="roundRect">
            <a:avLst>
              <a:gd name="adj" fmla="val 3404"/>
            </a:avLst>
          </a:prstGeom>
          <a:solidFill>
            <a:srgbClr val="F6EB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6812" y="4123944"/>
            <a:ext cx="48143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8A5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6812" y="452628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proveedor de cada insumo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margen de planta si sube la demanda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un cliente sin llegar a enterarse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1089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20" kern="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8638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nueve bloques, agrupados en cuatro preguntas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133856"/>
            <a:ext cx="44860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55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</a:t>
            </a:r>
            <a:pPr indent="0" marL="0">
              <a:buNone/>
            </a:pPr>
            <a:r>
              <a:rPr lang="en-US" sz="1200" spc="90" kern="0" dirty="0">
                <a:solidFill>
                  <a:srgbClr val="55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¿CÓMO?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08176"/>
            <a:ext cx="4486046" cy="41148"/>
          </a:xfrm>
          <a:prstGeom prst="rect">
            <a:avLst/>
          </a:prstGeom>
          <a:solidFill>
            <a:srgbClr val="5563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79822" y="1133856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CORAZÓN</a:t>
            </a:r>
            <a:pPr indent="0" marL="0">
              <a:buNone/>
            </a:pPr>
            <a:r>
              <a:rPr lang="en-US" sz="1200" spc="90" kern="0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¿QUÉ?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79822" y="1408176"/>
            <a:ext cx="2201875" cy="41148"/>
          </a:xfrm>
          <a:prstGeom prst="rect">
            <a:avLst/>
          </a:prstGeom>
          <a:solidFill>
            <a:srgbClr val="C879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63994" y="1133856"/>
            <a:ext cx="44860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1E5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CLIENTES</a:t>
            </a:r>
            <a:pPr indent="0" marL="0">
              <a:buNone/>
            </a:pPr>
            <a:r>
              <a:rPr lang="en-US" sz="1200" spc="90" kern="0" dirty="0">
                <a:solidFill>
                  <a:srgbClr val="1E5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¿QUIÉN?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3994" y="1408176"/>
            <a:ext cx="4486046" cy="41148"/>
          </a:xfrm>
          <a:prstGeom prst="rect">
            <a:avLst/>
          </a:prstGeom>
          <a:solidFill>
            <a:srgbClr val="1E5C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46360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A3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ECONOMÍA</a:t>
            </a:r>
            <a:pPr indent="0" marL="0">
              <a:buNone/>
            </a:pPr>
            <a:r>
              <a:rPr lang="en-US" sz="1200" spc="90" kern="0" dirty="0">
                <a:solidFill>
                  <a:srgbClr val="A3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¿CUÁNTO?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910328"/>
            <a:ext cx="11338560" cy="41148"/>
          </a:xfrm>
          <a:prstGeom prst="rect">
            <a:avLst/>
          </a:prstGeom>
          <a:solidFill>
            <a:srgbClr val="A33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591056"/>
            <a:ext cx="2201875" cy="2926080"/>
          </a:xfrm>
          <a:prstGeom prst="roundRect">
            <a:avLst>
              <a:gd name="adj" fmla="val 2492"/>
            </a:avLst>
          </a:prstGeom>
          <a:solidFill>
            <a:srgbClr val="EFEAD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352" y="1673352"/>
            <a:ext cx="1964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5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SOCIOS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1920240"/>
            <a:ext cx="1964131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a granel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terminado a granel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Transportistas tercerizados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Aiello Supermercados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5651" y="1591056"/>
            <a:ext cx="2201875" cy="1421892"/>
          </a:xfrm>
          <a:prstGeom prst="roundRect">
            <a:avLst>
              <a:gd name="adj" fmla="val 3859"/>
            </a:avLst>
          </a:prstGeom>
          <a:solidFill>
            <a:srgbClr val="EFEAD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14523" y="1673352"/>
            <a:ext cx="1964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5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ACTIVIDADES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14523" y="1920240"/>
            <a:ext cx="1964131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Fraccionamiento y envasado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y logística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y cobranza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5651" y="3095244"/>
            <a:ext cx="2201875" cy="1421892"/>
          </a:xfrm>
          <a:prstGeom prst="roundRect">
            <a:avLst>
              <a:gd name="adj" fmla="val 3859"/>
            </a:avLst>
          </a:prstGeom>
          <a:solidFill>
            <a:srgbClr val="EFEA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814523" y="3177540"/>
            <a:ext cx="1964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5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RECURSOS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814523" y="3424428"/>
            <a:ext cx="1964131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de +50 distribuidores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al límite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y flota propia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excel inexacta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79822" y="1591056"/>
            <a:ext cx="2201875" cy="2926080"/>
          </a:xfrm>
          <a:prstGeom prst="roundRect">
            <a:avLst>
              <a:gd name="adj" fmla="val 2492"/>
            </a:avLst>
          </a:prstGeom>
          <a:solidFill>
            <a:srgbClr val="1B2B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98694" y="1673352"/>
            <a:ext cx="1964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PROPUESTA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98694" y="1920240"/>
            <a:ext cx="1964131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C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al que revende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como diferencial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competitivo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formatos por producto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Fraccionamiento de terceros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3994" y="1591056"/>
            <a:ext cx="2201875" cy="1421892"/>
          </a:xfrm>
          <a:prstGeom prst="roundRect">
            <a:avLst>
              <a:gd name="adj" fmla="val 3859"/>
            </a:avLst>
          </a:prstGeom>
          <a:solidFill>
            <a:srgbClr val="DDE8E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82866" y="1673352"/>
            <a:ext cx="1964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5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RELACIÓN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82866" y="1920240"/>
            <a:ext cx="1964131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mantiene la empresa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 territorial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63994" y="3095244"/>
            <a:ext cx="2201875" cy="1421892"/>
          </a:xfrm>
          <a:prstGeom prst="roundRect">
            <a:avLst>
              <a:gd name="adj" fmla="val 3859"/>
            </a:avLst>
          </a:prstGeom>
          <a:solidFill>
            <a:srgbClr val="DDE8E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82866" y="3177540"/>
            <a:ext cx="1964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5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CANALES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382866" y="3424428"/>
            <a:ext cx="1964131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Flota, fletes y retiro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Viajante con zona específica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y teléfono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Redes: marca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tienda online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48165" y="1591056"/>
            <a:ext cx="2201875" cy="2926080"/>
          </a:xfrm>
          <a:prstGeom prst="roundRect">
            <a:avLst>
              <a:gd name="adj" fmla="val 2492"/>
            </a:avLst>
          </a:prstGeom>
          <a:solidFill>
            <a:srgbClr val="DDE8E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67037" y="1673352"/>
            <a:ext cx="1964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5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SEGMENTOS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667037" y="1920240"/>
            <a:ext cx="1964131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distribuidores mayoristas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provincias, con exclusividad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Aiello, única cadena, San Luis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al consumidor final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5020056"/>
            <a:ext cx="6770218" cy="1097280"/>
          </a:xfrm>
          <a:prstGeom prst="roundRect">
            <a:avLst>
              <a:gd name="adj" fmla="val 5000"/>
            </a:avLst>
          </a:prstGeom>
          <a:solidFill>
            <a:srgbClr val="F3DFD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30352" y="5102352"/>
            <a:ext cx="65324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3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ESTRUCTURA DE COSTOS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30352" y="5349240"/>
            <a:ext cx="65324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· packaging y film (+25 formatos) · mano de obra · logística y flete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63994" y="5020056"/>
            <a:ext cx="4486046" cy="1097280"/>
          </a:xfrm>
          <a:prstGeom prst="roundRect">
            <a:avLst>
              <a:gd name="adj" fmla="val 5000"/>
            </a:avLst>
          </a:prstGeom>
          <a:solidFill>
            <a:srgbClr val="DCEAE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82866" y="5102352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FUENTES DE INGRESOS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382866" y="5349240"/>
            <a:ext cx="42483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mayorista · Aiello · producto fraccionado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20" kern="0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 DIGITAL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la cátedra: 28 preguntas sobre 7 dimensiones, escala de 1 a 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A3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1.79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Inicial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puntos sobre 28 preguntas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406908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3D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4306824"/>
            <a:ext cx="2505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dimensiones más bajas no son sobre herramientas: son sobre decidir y controlar.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59752" y="1691640"/>
            <a:ext cx="0" cy="3931920"/>
          </a:xfrm>
          <a:prstGeom prst="line">
            <a:avLst/>
          </a:prstGeom>
          <a:noFill/>
          <a:ln w="12700">
            <a:solidFill>
              <a:srgbClr val="E2D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76872" y="56418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01584" y="1691640"/>
            <a:ext cx="0" cy="3931920"/>
          </a:xfrm>
          <a:prstGeom prst="line">
            <a:avLst/>
          </a:prstGeom>
          <a:noFill/>
          <a:ln w="12700">
            <a:solidFill>
              <a:srgbClr val="E2D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18704" y="56418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43416" y="1691640"/>
            <a:ext cx="0" cy="3931920"/>
          </a:xfrm>
          <a:prstGeom prst="line">
            <a:avLst/>
          </a:prstGeom>
          <a:noFill/>
          <a:ln w="12700">
            <a:solidFill>
              <a:srgbClr val="E2D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0536" y="56418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85248" y="1691640"/>
            <a:ext cx="0" cy="3931920"/>
          </a:xfrm>
          <a:prstGeom prst="line">
            <a:avLst/>
          </a:prstGeom>
          <a:noFill/>
          <a:ln w="12700">
            <a:solidFill>
              <a:srgbClr val="E2D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02368" y="56418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27080" y="1691640"/>
            <a:ext cx="0" cy="3931920"/>
          </a:xfrm>
          <a:prstGeom prst="line">
            <a:avLst/>
          </a:prstGeom>
          <a:noFill/>
          <a:ln w="12700">
            <a:solidFill>
              <a:srgbClr val="E2D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44200" y="56418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1691640"/>
            <a:ext cx="1993392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Operaciones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844475"/>
            <a:ext cx="2354580" cy="256032"/>
          </a:xfrm>
          <a:prstGeom prst="rect">
            <a:avLst/>
          </a:prstGeom>
          <a:solidFill>
            <a:srgbClr val="2F6B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63940" y="1691640"/>
            <a:ext cx="59436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253343"/>
            <a:ext cx="1993392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Datos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2406178"/>
            <a:ext cx="2119122" cy="256032"/>
          </a:xfrm>
          <a:prstGeom prst="rect">
            <a:avLst/>
          </a:prstGeom>
          <a:solidFill>
            <a:srgbClr val="2F6B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28482" y="2253343"/>
            <a:ext cx="59436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815046"/>
            <a:ext cx="1993392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Canales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2967881"/>
            <a:ext cx="1883664" cy="256032"/>
          </a:xfrm>
          <a:prstGeom prst="rect">
            <a:avLst/>
          </a:prstGeom>
          <a:solidFill>
            <a:srgbClr val="2F6B5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93024" y="2815046"/>
            <a:ext cx="59436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3376749"/>
            <a:ext cx="1993392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y Cultura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3529584"/>
            <a:ext cx="1412748" cy="256032"/>
          </a:xfrm>
          <a:prstGeom prst="rect">
            <a:avLst/>
          </a:prstGeom>
          <a:solidFill>
            <a:srgbClr val="C8791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22108" y="3376749"/>
            <a:ext cx="59436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3938451"/>
            <a:ext cx="1993392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y Habilidades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4091287"/>
            <a:ext cx="1412748" cy="256032"/>
          </a:xfrm>
          <a:prstGeom prst="rect">
            <a:avLst/>
          </a:prstGeom>
          <a:solidFill>
            <a:srgbClr val="C8791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22108" y="3938451"/>
            <a:ext cx="59436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500154"/>
            <a:ext cx="1993392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4652990"/>
            <a:ext cx="1412748" cy="256032"/>
          </a:xfrm>
          <a:prstGeom prst="rect">
            <a:avLst/>
          </a:prstGeom>
          <a:solidFill>
            <a:srgbClr val="A33B2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22108" y="4500154"/>
            <a:ext cx="59436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5061857"/>
            <a:ext cx="1993392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5214693"/>
            <a:ext cx="1177290" cy="256032"/>
          </a:xfrm>
          <a:prstGeom prst="rect">
            <a:avLst/>
          </a:prstGeom>
          <a:solidFill>
            <a:srgbClr val="A33B2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486650" y="5061857"/>
            <a:ext cx="59436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Dulxelitos · Gestión Gerencial · UTN FRSR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20" kern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CONCLUSIONES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78992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 mal gestionada.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C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sin instrumentos.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514600"/>
            <a:ext cx="3444240" cy="2926080"/>
          </a:xfrm>
          <a:prstGeom prst="roundRect">
            <a:avLst>
              <a:gd name="adj" fmla="val 3125"/>
            </a:avLst>
          </a:prstGeom>
          <a:solidFill>
            <a:srgbClr val="22353F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2788920"/>
            <a:ext cx="548640" cy="548640"/>
          </a:xfrm>
          <a:prstGeom prst="ellipse">
            <a:avLst/>
          </a:prstGeom>
          <a:solidFill>
            <a:srgbClr val="C879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520440"/>
            <a:ext cx="2859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Compite por precio sin conocer su costo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4343400"/>
            <a:ext cx="2859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ventaja que declara es el precio, y la planilla que lo sostiene la propia empresa la reconoce imprecisa.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8640" y="2514600"/>
            <a:ext cx="3444240" cy="2926080"/>
          </a:xfrm>
          <a:prstGeom prst="roundRect">
            <a:avLst>
              <a:gd name="adj" fmla="val 3125"/>
            </a:avLst>
          </a:prstGeom>
          <a:solidFill>
            <a:srgbClr val="22353F"/>
          </a:solidFill>
          <a:ln/>
        </p:spPr>
      </p:sp>
      <p:sp>
        <p:nvSpPr>
          <p:cNvPr id="10" name="Shape 8"/>
          <p:cNvSpPr/>
          <p:nvPr/>
        </p:nvSpPr>
        <p:spPr>
          <a:xfrm>
            <a:off x="4651248" y="2788920"/>
            <a:ext cx="548640" cy="548640"/>
          </a:xfrm>
          <a:prstGeom prst="ellipse">
            <a:avLst/>
          </a:prstGeom>
          <a:solidFill>
            <a:srgbClr val="C879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1248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51248" y="3520440"/>
            <a:ext cx="2859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Tapa la planta saturada con horas extras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51248" y="4343400"/>
            <a:ext cx="2859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está al límite y se cubre pagando horas, no resolviendo el cuello de botella.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2920" y="2514600"/>
            <a:ext cx="3444240" cy="2926080"/>
          </a:xfrm>
          <a:prstGeom prst="roundRect">
            <a:avLst>
              <a:gd name="adj" fmla="val 3125"/>
            </a:avLst>
          </a:prstGeom>
          <a:solidFill>
            <a:srgbClr val="2235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5528" y="2788920"/>
            <a:ext cx="548640" cy="548640"/>
          </a:xfrm>
          <a:prstGeom prst="ellipse">
            <a:avLst/>
          </a:prstGeom>
          <a:solidFill>
            <a:srgbClr val="C879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5528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5528" y="3520440"/>
            <a:ext cx="2859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activo más valioso no tiene sistema detrás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5528" y="4343400"/>
            <a:ext cx="2859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distribuidores establecidos, sin CRM y sin medición de cartera.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Dulxelitos · Gestión Gerencial · UTN FRSR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Dulxelitos - Diagnostico gerencial</dc:title>
  <dc:subject>PptxGenJS Presentation</dc:subject>
  <dc:creator>Lepez Joaquin, Geyer Juan Jose, Lopez Juan, Sorato Emiliano, Olivares Manuel</dc:creator>
  <cp:lastModifiedBy>Lepez Joaquin, Geyer Juan Jose, Lopez Juan, Sorato Emiliano, Olivares Manuel</cp:lastModifiedBy>
  <cp:revision>1</cp:revision>
  <dcterms:created xsi:type="dcterms:W3CDTF">2026-09-21T20:42:52Z</dcterms:created>
  <dcterms:modified xsi:type="dcterms:W3CDTF">2026-09-21T20:42:52Z</dcterms:modified>
</cp:coreProperties>
</file>